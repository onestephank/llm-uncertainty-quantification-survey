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today I will present my survey project titled “From Predictive Entropy to Semantic Entropy: A Survey of Uncertainty Metrics for Large Language Models.”
This project is not an implementation project, but a survey report. The main goal is to review how uncertainty estimation methods for Large Language Models have changed over time.
In particular, I focus on the transition from traditional token-level uncertainty metrics, such as predictive entropy, to semantic-level methods, especially Semantic Entropy.
The key question of this survey is: How can we measure whether an LLM is uncertain about meaning, rather than simply uncertain about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Language Models are now used in many practical applications, such as question answering, summarization, code generation, education, and decision-support systems.
However, one major limitation of LLMs is that they can generate answers that look fluent and plausible, but are actually factually incorrect. This problem is commonly referred to as hallucination.
For example, if a model is asked a medical or legal question, a fluent but incorrect answer can be dangerous. In these cases, the problem is not only whether the model can generate natural language, but whether the system can know when its answer should not be trusted.
This is why uncertainty estimation is important. If a model can assign a meaningful uncertainty score to its own output, then the system can decide whether to accept the answer, verify it using retrieval, or send it to human review.
Therefore, uncertainty estimation is closely related to the reliability and safety of LLMs in real-world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comparing uncertainty metrics, we need to distinguish two types of uncertainty: aleatoric uncertainty and epistemic uncertainty.
Aleatoric uncertainty refers to ambiguity that naturally exists in the data or task. For instance, if the prompt is “Write a greeting,” there are many valid answers, such as “Hello,” “Hi,” or “Good morning.” In this case, variation in the output does not mean that the model lacks knowledge. It simply reflects that the task allows multiple correct responses.
Epistemic uncertainty is different. It refers to uncertainty caused by insufficient knowledge in the model. For example, if the model is asked about a very specific fact that was not well represented in training data, the model may still produce a confident-looking answer even though it does not actually know the answer.
Hallucination is more closely related to epistemic uncertainty. The central goal of uncertainty estimation is therefore to distinguish harmless linguistic variation from genuine uncertainty about factual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traditional approach to uncertainty estimation is based on token probabilities.
In autoregressive language modeling, an output sequence is generated token by token. The probability of a full sequence is computed as the product of conditional probabilities of each token, given the previous tokens and the input prompt.
This can be written as p of s given x equals the product over conditional token probabilities.
Based on this sequence probability, predictive entropy estimates how uncertain the model is over possible generated sequences. A common Monte Carlo approximation is shown on the right.
This formulation is mathematically simple and directly connected to the probabilistic structure of language models. However, the problem is that natural language generation is not only a token prediction problem. It is also a semantic communication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limitation of predictive entropy is that it operates at the level of token sequences, not meanings.
Consider the question: “What is the capital of France?”
The model may generate several answers: “Paris,” “The capital is Paris,” “It is Paris,” and “Paris is the capital of France.”
These answers are different at the token level, but they express the same semantic fact.
Predictive entropy treats them as different output sequences. As a result, the probability mass is divided across multiple surface forms.
This creates what can be understood as a probability dilution problem. The model may be semantically certain that the answer is Paris, but because it distributes probability over several phrasings, token-level entropy may incorrectly interpret this lexical diversity as uncertainty.
Therefore, predictive entropy can overestimate uncertainty when the model is only uncertain about how to phrase the answer, not about what the answer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Entropy was proposed to address this limitation.
The core idea is simple but important: uncertainty should be measured over meanings, not over exact token strings.
Instead of treating each generated sentence as an independent outcome, Semantic Entropy first groups outputs into semantic clusters. A semantic cluster contains answers that express the same meaning.
For example, “Paris,” “The capital is Paris,” and “It is Paris” would be grouped into the same semantic cluster.
The probability of a semantic cluster is calculated by summing the probabilities of all sequences in that cluster. Then entropy is computed over the semantic clusters.
If all generated answers have the same meaning, most probability mass is concentrated in one semantic cluster, so Semantic Entropy becomes low.
If the model generates mutually incompatible answers, probability mass is spread across multiple semantic clusters, so Semantic Entropy becomes high.
This makes Semantic Entropy more aligned with epistemic uncertainty than predictive entropy.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question is how to construct semantic clusters in practice.
Most implementations use a Natural Language Inference model, also called an NLI model.
The system first samples multiple answers from the LLM. Then it compares pairs of generated answers using the NLI model.
Two answers are placed in the same cluster if they entail each other in both directions.
For example, if answer A entails answer B, and answer B also entails answer A, then they are treated as semantically equivalent. This is called bidirectional entailment.
The reason bidirectional entailment is important is that one-directional entailment is not enough for equivalence. For example, “Paris is the capital of France” may entail “Paris,” but “Paris” does not necessarily entail the full sentence with the same level of detail. Therefore, bidirectional entailment provides a stricter approximation of semantic equivalence.
However, this also introduces a limitation. Using an external NLI model requires additional computation, and the quality of Semantic Entropy depends on how accurately the NLI model judges semantic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Entropy has motivated several extensions.
The first important extension is Discrete Semantic Entropy, or DSE.
Standard Semantic Entropy requires access to sequence likelihoods or token probabilities. However, many commercial LLM APIs do not provide full token-level probability information.
DSE addresses this issue by using empirical frequencies instead of exact sequence probabilities. In other words, it samples multiple outputs, clusters them by meaning, and estimates the probability of each semantic cluster by counting how many sampled answers belong to that cluster. This makes DSE suitable for black-box LLM settings.
However, DSE has a finite-sample limitation. If the sample size is small, rare but possible semantic alternatives may not appear in the sampled outputs. As a result, DSE can underestimate uncertainty.
The second extension is Kernel Language Entropy, or KLE. Unlike Semantic Entropy and DSE, which rely on hard cluster assignments, KLE represents semantic relatedness as a continuous similarity structure.
This is useful because long-form answers may not be simply equivalent or contradictory. They may partially overlap in meaning.
KLE uses a kernel matrix to represent pairwise semantic similarities and measures uncertainty using von Neumann entropy. Therefore, KLE provides a more flexible framework for semantic uncertainty in long-form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Uncertainty metrics are usually evaluated by how well they distinguish correct generations from incorrect generations.
Common evaluation metrics include AUROC and accuracy-rejection curves.
The general empirical finding is that semantic-level methods often perform better than token-level predictive entropy in free-form factual question answering. This is because semantic-level methods are robust to paraphrases.
For example, in datasets such as TriviaQA and CoQA, correct answers may be expressed in different forms. Predictive entropy may treat those variations as uncertainty, while Semantic Entropy checks whether the answers converge to the same meaning.
However, semantic uncertainty methods also have practical limitations.
First, they require multiple generations for each prompt. This increases inference cost.
Second, NLI-based clustering requires pairwise comparisons among generated outputs. If there are N generated responses, the number of pairwise comparisons can grow quadratically.
Third, the quality of the semantic evaluator matters. An NLI model trained on general-domain data may not correctly evaluate specialized language in medicine, law, or theology.
Therefore, semantic uncertainty is theoretically well motivated, but its practical deployment still requires improvements in efficiency and domain robustness.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survey reviewed the development of uncertainty estimation methods for Large Language Models.
Traditional predictive entropy is useful because it is simple and directly based on model probabilities. However, it has a structural limitation in free-form generation because it treats different paraphrases as separate outcomes.
Semantic Entropy addresses this problem by measuring uncertainty over semantic equivalence classes. This allows the metric to distinguish lexical variation from genuine uncertainty about meaning.
Extensions such as Discrete Semantic Entropy and Kernel Language Entropy further expand this framework. DSE makes semantic uncertainty estimation more applicable to black-box models, while KLE provides a continuous formulation for soft semantic similarity.
Overall, the main direction of the field is moving from token-level uncertainty to semantic-level uncertainty.
Future research should focus on three issues: computational efficiency, reliable semantic evaluation in specialized domains, and uncertainty estimation for long-form and multimodal generation.
This concludes my presentation.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640080" y="475488"/>
            <a:ext cx="1508760" cy="320040"/>
          </a:xfrm>
          <a:prstGeom prst="rect">
            <a:avLst/>
          </a:prstGeom>
          <a:solidFill>
            <a:srgbClr val="E8EDFF"/>
          </a:solidFill>
          <a:ln>
            <a:solidFill>
              <a:srgbClr val="E8EDFF"/>
            </a:solidFill>
          </a:ln>
        </p:spPr>
        <p:txBody>
          <a:bodyPr wrap="square" lIns="508" tIns="508" rIns="508" bIns="508" rtlCol="0" anchor="ctr"/>
          <a:lstStyle/>
          <a:p>
            <a:pPr algn="ctr" indent="0" marL="0">
              <a:buNone/>
            </a:pPr>
            <a:r>
              <a:rPr lang="en-US" sz="1200" b="1" dirty="0">
                <a:solidFill>
                  <a:srgbClr val="3D63FF"/>
                </a:solidFill>
              </a:rPr>
              <a:t>Survey Project</a:t>
            </a:r>
            <a:endParaRPr lang="en-US" sz="1200" dirty="0"/>
          </a:p>
        </p:txBody>
      </p:sp>
      <p:sp>
        <p:nvSpPr>
          <p:cNvPr id="3" name="Text 1"/>
          <p:cNvSpPr/>
          <p:nvPr/>
        </p:nvSpPr>
        <p:spPr>
          <a:xfrm>
            <a:off x="685800" y="1115568"/>
            <a:ext cx="6446520" cy="1417320"/>
          </a:xfrm>
          <a:prstGeom prst="rect">
            <a:avLst/>
          </a:prstGeom>
          <a:noFill/>
          <a:ln/>
        </p:spPr>
        <p:txBody>
          <a:bodyPr wrap="square" lIns="1016" tIns="1016" rIns="1016" bIns="1016" rtlCol="0" anchor="ctr">
            <a:normAutofit/>
          </a:bodyPr>
          <a:lstStyle/>
          <a:p>
            <a:pPr indent="0" marL="0">
              <a:buNone/>
            </a:pPr>
            <a:r>
              <a:rPr lang="en-US" sz="3800" b="1" dirty="0">
                <a:solidFill>
                  <a:srgbClr val="172033"/>
                </a:solidFill>
                <a:latin typeface="Aptos Display" pitchFamily="34" charset="0"/>
                <a:ea typeface="Aptos Display" pitchFamily="34" charset="-122"/>
                <a:cs typeface="Aptos Display" pitchFamily="34" charset="-120"/>
              </a:rPr>
              <a:t>From Predictive Entropy</a:t>
            </a:r>
            <a:endParaRPr lang="en-US" sz="3800" dirty="0"/>
          </a:p>
          <a:p>
            <a:pPr indent="0" marL="0">
              <a:buNone/>
            </a:pPr>
            <a:r>
              <a:rPr lang="en-US" sz="3800" b="1" dirty="0">
                <a:solidFill>
                  <a:srgbClr val="172033"/>
                </a:solidFill>
                <a:latin typeface="Aptos Display" pitchFamily="34" charset="0"/>
                <a:ea typeface="Aptos Display" pitchFamily="34" charset="-122"/>
                <a:cs typeface="Aptos Display" pitchFamily="34" charset="-120"/>
              </a:rPr>
              <a:t>to Semantic Entropy</a:t>
            </a:r>
            <a:endParaRPr lang="en-US" sz="3800" dirty="0"/>
          </a:p>
        </p:txBody>
      </p:sp>
      <p:sp>
        <p:nvSpPr>
          <p:cNvPr id="4" name="Text 2"/>
          <p:cNvSpPr/>
          <p:nvPr/>
        </p:nvSpPr>
        <p:spPr>
          <a:xfrm>
            <a:off x="713232" y="2578608"/>
            <a:ext cx="6675120" cy="457200"/>
          </a:xfrm>
          <a:prstGeom prst="rect">
            <a:avLst/>
          </a:prstGeom>
          <a:noFill/>
          <a:ln/>
        </p:spPr>
        <p:txBody>
          <a:bodyPr wrap="square" lIns="0" tIns="0" rIns="0" bIns="0" rtlCol="0" anchor="ctr">
            <a:normAutofit/>
          </a:bodyPr>
          <a:lstStyle/>
          <a:p>
            <a:pPr indent="0" marL="0">
              <a:buNone/>
            </a:pPr>
            <a:r>
              <a:rPr lang="en-US" sz="1900" dirty="0">
                <a:solidFill>
                  <a:srgbClr val="5D667A"/>
                </a:solidFill>
                <a:latin typeface="Aptos" pitchFamily="34" charset="0"/>
                <a:ea typeface="Aptos" pitchFamily="34" charset="-122"/>
                <a:cs typeface="Aptos" pitchFamily="34" charset="-120"/>
              </a:rPr>
              <a:t>A Survey of Uncertainty Metrics for Large Language Models</a:t>
            </a:r>
            <a:endParaRPr lang="en-US" sz="1900" dirty="0"/>
          </a:p>
        </p:txBody>
      </p:sp>
      <p:sp>
        <p:nvSpPr>
          <p:cNvPr id="5" name="Text 3"/>
          <p:cNvSpPr/>
          <p:nvPr/>
        </p:nvSpPr>
        <p:spPr>
          <a:xfrm>
            <a:off x="713232" y="3145536"/>
            <a:ext cx="3474720" cy="292608"/>
          </a:xfrm>
          <a:prstGeom prst="rect">
            <a:avLst/>
          </a:prstGeom>
          <a:noFill/>
          <a:ln/>
        </p:spPr>
        <p:txBody>
          <a:bodyPr wrap="square" lIns="0" tIns="0" rIns="0" bIns="0" rtlCol="0" anchor="ctr">
            <a:normAutofit/>
          </a:bodyPr>
          <a:lstStyle/>
          <a:p>
            <a:pPr indent="0" marL="0">
              <a:buNone/>
            </a:pPr>
            <a:r>
              <a:rPr lang="en-US" sz="1350" dirty="0">
                <a:solidFill>
                  <a:srgbClr val="5D667A"/>
                </a:solidFill>
                <a:latin typeface="Aptos" pitchFamily="34" charset="0"/>
                <a:ea typeface="Aptos" pitchFamily="34" charset="-122"/>
                <a:cs typeface="Aptos" pitchFamily="34" charset="-120"/>
              </a:rPr>
              <a:t>Student: Hangyeol Kim</a:t>
            </a:r>
            <a:endParaRPr lang="en-US" sz="1350" dirty="0"/>
          </a:p>
        </p:txBody>
      </p:sp>
      <p:sp>
        <p:nvSpPr>
          <p:cNvPr id="6" name="Text 4"/>
          <p:cNvSpPr/>
          <p:nvPr/>
        </p:nvSpPr>
        <p:spPr>
          <a:xfrm>
            <a:off x="7635240" y="1234440"/>
            <a:ext cx="2926080" cy="868680"/>
          </a:xfrm>
          <a:prstGeom prst="rect">
            <a:avLst/>
          </a:prstGeom>
          <a:solidFill>
            <a:srgbClr val="E8EDFF"/>
          </a:solidFill>
          <a:ln>
            <a:solidFill>
              <a:srgbClr val="FFFFFF">
                <a:alpha val="0"/>
              </a:srgbClr>
            </a:solidFill>
          </a:ln>
        </p:spPr>
        <p:txBody>
          <a:bodyPr wrap="square" lIns="1524" tIns="1524" rIns="1524" bIns="1524" rtlCol="0" anchor="ctr">
            <a:normAutofit/>
          </a:bodyPr>
          <a:lstStyle/>
          <a:p>
            <a:pPr algn="ctr" indent="0" marL="0">
              <a:buNone/>
            </a:pPr>
            <a:r>
              <a:rPr lang="en-US" sz="1800" b="1" dirty="0">
                <a:solidFill>
                  <a:srgbClr val="3D63FF"/>
                </a:solidFill>
                <a:latin typeface="Aptos" pitchFamily="34" charset="0"/>
                <a:ea typeface="Aptos" pitchFamily="34" charset="-122"/>
                <a:cs typeface="Aptos" pitchFamily="34" charset="-120"/>
              </a:rPr>
              <a:t>Token-level</a:t>
            </a:r>
            <a:endParaRPr lang="en-US" sz="1800" dirty="0"/>
          </a:p>
          <a:p>
            <a:pPr algn="ctr" indent="0" marL="0">
              <a:buNone/>
            </a:pPr>
            <a:r>
              <a:rPr lang="en-US" sz="1800" b="1" dirty="0">
                <a:solidFill>
                  <a:srgbClr val="3D63FF"/>
                </a:solidFill>
                <a:latin typeface="Aptos" pitchFamily="34" charset="0"/>
                <a:ea typeface="Aptos" pitchFamily="34" charset="-122"/>
                <a:cs typeface="Aptos" pitchFamily="34" charset="-120"/>
              </a:rPr>
              <a:t>uncertainty</a:t>
            </a:r>
            <a:endParaRPr lang="en-US" sz="1800" dirty="0"/>
          </a:p>
        </p:txBody>
      </p:sp>
      <p:sp>
        <p:nvSpPr>
          <p:cNvPr id="7" name="Text 5"/>
          <p:cNvSpPr/>
          <p:nvPr/>
        </p:nvSpPr>
        <p:spPr>
          <a:xfrm>
            <a:off x="8732520" y="2359152"/>
            <a:ext cx="548640" cy="411480"/>
          </a:xfrm>
          <a:prstGeom prst="rect">
            <a:avLst/>
          </a:prstGeom>
          <a:noFill/>
          <a:ln/>
        </p:spPr>
        <p:txBody>
          <a:bodyPr wrap="square" lIns="0" tIns="0" rIns="0" bIns="0" rtlCol="0" anchor="ctr">
            <a:normAutofit/>
          </a:bodyPr>
          <a:lstStyle/>
          <a:p>
            <a:pPr algn="ctr" indent="0" marL="0">
              <a:buNone/>
            </a:pPr>
            <a:r>
              <a:rPr lang="en-US" sz="3000" dirty="0">
                <a:solidFill>
                  <a:srgbClr val="5D667A"/>
                </a:solidFill>
                <a:latin typeface="Aptos" pitchFamily="34" charset="0"/>
                <a:ea typeface="Aptos" pitchFamily="34" charset="-122"/>
                <a:cs typeface="Aptos" pitchFamily="34" charset="-120"/>
              </a:rPr>
              <a:t>→</a:t>
            </a:r>
            <a:endParaRPr lang="en-US" sz="3000" dirty="0"/>
          </a:p>
        </p:txBody>
      </p:sp>
      <p:sp>
        <p:nvSpPr>
          <p:cNvPr id="8" name="Text 6"/>
          <p:cNvSpPr/>
          <p:nvPr/>
        </p:nvSpPr>
        <p:spPr>
          <a:xfrm>
            <a:off x="7635240" y="2926080"/>
            <a:ext cx="2926080" cy="868680"/>
          </a:xfrm>
          <a:prstGeom prst="rect">
            <a:avLst/>
          </a:prstGeom>
          <a:solidFill>
            <a:srgbClr val="E7F7F3"/>
          </a:solidFill>
          <a:ln>
            <a:solidFill>
              <a:srgbClr val="FFFFFF">
                <a:alpha val="0"/>
              </a:srgbClr>
            </a:solidFill>
          </a:ln>
        </p:spPr>
        <p:txBody>
          <a:bodyPr wrap="square" lIns="1524" tIns="1524" rIns="1524" bIns="1524" rtlCol="0" anchor="ctr">
            <a:normAutofit/>
          </a:bodyPr>
          <a:lstStyle/>
          <a:p>
            <a:pPr algn="ctr" indent="0" marL="0">
              <a:buNone/>
            </a:pPr>
            <a:r>
              <a:rPr lang="en-US" sz="1800" b="1" dirty="0">
                <a:solidFill>
                  <a:srgbClr val="00A78E"/>
                </a:solidFill>
                <a:latin typeface="Aptos" pitchFamily="34" charset="0"/>
                <a:ea typeface="Aptos" pitchFamily="34" charset="-122"/>
                <a:cs typeface="Aptos" pitchFamily="34" charset="-120"/>
              </a:rPr>
              <a:t>Meaning-level</a:t>
            </a:r>
            <a:endParaRPr lang="en-US" sz="1800" dirty="0"/>
          </a:p>
          <a:p>
            <a:pPr algn="ctr" indent="0" marL="0">
              <a:buNone/>
            </a:pPr>
            <a:r>
              <a:rPr lang="en-US" sz="1800" b="1" dirty="0">
                <a:solidFill>
                  <a:srgbClr val="00A78E"/>
                </a:solidFill>
                <a:latin typeface="Aptos" pitchFamily="34" charset="0"/>
                <a:ea typeface="Aptos" pitchFamily="34" charset="-122"/>
                <a:cs typeface="Aptos" pitchFamily="34" charset="-120"/>
              </a:rPr>
              <a:t>uncertainty</a:t>
            </a:r>
            <a:endParaRPr lang="en-US" sz="1800" dirty="0"/>
          </a:p>
        </p:txBody>
      </p:sp>
      <p:sp>
        <p:nvSpPr>
          <p:cNvPr id="9" name="Text 7"/>
          <p:cNvSpPr/>
          <p:nvPr/>
        </p:nvSpPr>
        <p:spPr>
          <a:xfrm>
            <a:off x="6812280" y="4608576"/>
            <a:ext cx="4553712" cy="822960"/>
          </a:xfrm>
          <a:prstGeom prst="rect">
            <a:avLst/>
          </a:prstGeom>
          <a:solidFill>
            <a:srgbClr val="FFFFFF"/>
          </a:solidFill>
          <a:ln>
            <a:solidFill>
              <a:srgbClr val="D7DDEB"/>
            </a:solidFill>
          </a:ln>
        </p:spPr>
        <p:txBody>
          <a:bodyPr wrap="square" lIns="1524" tIns="1524" rIns="1524" bIns="1524" rtlCol="0" anchor="ctr">
            <a:normAutofit/>
          </a:bodyPr>
          <a:lstStyle/>
          <a:p>
            <a:pPr indent="0" marL="0">
              <a:buNone/>
            </a:pPr>
            <a:r>
              <a:rPr lang="en-US" sz="1550" dirty="0">
                <a:solidFill>
                  <a:srgbClr val="172033"/>
                </a:solidFill>
                <a:latin typeface="Aptos" pitchFamily="34" charset="0"/>
                <a:ea typeface="Aptos" pitchFamily="34" charset="-122"/>
                <a:cs typeface="Aptos" pitchFamily="34" charset="-120"/>
              </a:rPr>
              <a:t>Core question</a:t>
            </a:r>
            <a:endParaRPr lang="en-US" sz="1550" dirty="0"/>
          </a:p>
          <a:p>
            <a:pPr indent="0" marL="0">
              <a:buNone/>
            </a:pPr>
            <a:r>
              <a:rPr lang="en-US" sz="1550" dirty="0">
                <a:solidFill>
                  <a:srgbClr val="172033"/>
                </a:solidFill>
                <a:latin typeface="Aptos" pitchFamily="34" charset="0"/>
                <a:ea typeface="Aptos" pitchFamily="34" charset="-122"/>
                <a:cs typeface="Aptos" pitchFamily="34" charset="-120"/>
              </a:rPr>
              <a:t>How can an LLM know it is uncertain about meaning, not merely wording?</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530352" y="301752"/>
            <a:ext cx="502920" cy="256032"/>
          </a:xfrm>
          <a:prstGeom prst="rect">
            <a:avLst/>
          </a:prstGeom>
          <a:noFill/>
          <a:ln/>
        </p:spPr>
        <p:txBody>
          <a:bodyPr wrap="square" lIns="0" tIns="0" rIns="0" bIns="0" rtlCol="0" anchor="ctr"/>
          <a:lstStyle/>
          <a:p>
            <a:pPr indent="0" marL="0">
              <a:buNone/>
            </a:pPr>
            <a:r>
              <a:rPr lang="en-US" sz="1000" b="1" dirty="0">
                <a:solidFill>
                  <a:srgbClr val="3D63FF"/>
                </a:solidFill>
                <a:latin typeface="Aptos" pitchFamily="34" charset="0"/>
                <a:ea typeface="Aptos" pitchFamily="34" charset="-122"/>
                <a:cs typeface="Aptos" pitchFamily="34" charset="-120"/>
              </a:rPr>
              <a:t>02</a:t>
            </a:r>
            <a:endParaRPr lang="en-US" sz="1000" dirty="0"/>
          </a:p>
        </p:txBody>
      </p:sp>
      <p:sp>
        <p:nvSpPr>
          <p:cNvPr id="3" name="Text 1"/>
          <p:cNvSpPr/>
          <p:nvPr/>
        </p:nvSpPr>
        <p:spPr>
          <a:xfrm>
            <a:off x="1097280" y="228600"/>
            <a:ext cx="8778240" cy="457200"/>
          </a:xfrm>
          <a:prstGeom prst="rect">
            <a:avLst/>
          </a:prstGeom>
          <a:noFill/>
          <a:ln/>
        </p:spPr>
        <p:txBody>
          <a:bodyPr wrap="square" lIns="254" tIns="254" rIns="254" bIns="254" rtlCol="0" anchor="ctr">
            <a:normAutofit/>
          </a:bodyPr>
          <a:lstStyle/>
          <a:p>
            <a:pPr indent="0" marL="0">
              <a:buNone/>
            </a:pPr>
            <a:r>
              <a:rPr lang="en-US" sz="2800" b="1" dirty="0">
                <a:solidFill>
                  <a:srgbClr val="172033"/>
                </a:solidFill>
                <a:latin typeface="Aptos Display" pitchFamily="34" charset="0"/>
                <a:ea typeface="Aptos Display" pitchFamily="34" charset="-122"/>
                <a:cs typeface="Aptos Display" pitchFamily="34" charset="-120"/>
              </a:rPr>
              <a:t>Motivation: fluency is not reliability</a:t>
            </a:r>
            <a:endParaRPr lang="en-US" sz="2800" dirty="0"/>
          </a:p>
        </p:txBody>
      </p:sp>
      <p:sp>
        <p:nvSpPr>
          <p:cNvPr id="4" name="Text 2"/>
          <p:cNvSpPr/>
          <p:nvPr/>
        </p:nvSpPr>
        <p:spPr>
          <a:xfrm>
            <a:off x="1097280" y="694944"/>
            <a:ext cx="8961120" cy="292608"/>
          </a:xfrm>
          <a:prstGeom prst="rect">
            <a:avLst/>
          </a:prstGeom>
          <a:noFill/>
          <a:ln/>
        </p:spPr>
        <p:txBody>
          <a:bodyPr wrap="square" lIns="254" tIns="254" rIns="254" bIns="254" rtlCol="0" anchor="ctr">
            <a:normAutofit/>
          </a:bodyPr>
          <a:lstStyle/>
          <a:p>
            <a:pPr indent="0" marL="0">
              <a:buNone/>
            </a:pPr>
            <a:r>
              <a:rPr lang="en-US" sz="1250" dirty="0">
                <a:solidFill>
                  <a:srgbClr val="5D667A"/>
                </a:solidFill>
                <a:latin typeface="Aptos" pitchFamily="34" charset="0"/>
                <a:ea typeface="Aptos" pitchFamily="34" charset="-122"/>
                <a:cs typeface="Aptos" pitchFamily="34" charset="-120"/>
              </a:rPr>
              <a:t>Uncertainty estimation as a reliability mechanism for LLM deployment</a:t>
            </a:r>
            <a:endParaRPr lang="en-US" sz="1250" dirty="0"/>
          </a:p>
        </p:txBody>
      </p:sp>
      <p:sp>
        <p:nvSpPr>
          <p:cNvPr id="5" name="Shape 3"/>
          <p:cNvSpPr/>
          <p:nvPr/>
        </p:nvSpPr>
        <p:spPr>
          <a:xfrm>
            <a:off x="530352" y="1060704"/>
            <a:ext cx="11155680" cy="0"/>
          </a:xfrm>
          <a:prstGeom prst="line">
            <a:avLst/>
          </a:prstGeom>
          <a:noFill/>
          <a:ln w="12700">
            <a:solidFill>
              <a:srgbClr val="D7DDEB"/>
            </a:solidFill>
            <a:prstDash val="solid"/>
          </a:ln>
        </p:spPr>
      </p:sp>
      <p:sp>
        <p:nvSpPr>
          <p:cNvPr id="6" name="Text 4"/>
          <p:cNvSpPr/>
          <p:nvPr/>
        </p:nvSpPr>
        <p:spPr>
          <a:xfrm>
            <a:off x="804672" y="1481328"/>
            <a:ext cx="3246120" cy="960120"/>
          </a:xfrm>
          <a:prstGeom prst="rect">
            <a:avLst/>
          </a:prstGeom>
          <a:solidFill>
            <a:srgbClr val="FFFFFF"/>
          </a:solidFill>
          <a:ln>
            <a:solidFill>
              <a:srgbClr val="D7DDEB"/>
            </a:solidFill>
          </a:ln>
        </p:spPr>
        <p:txBody>
          <a:bodyPr wrap="square" lIns="1524" tIns="1524" rIns="1524" bIns="1524" rtlCol="0" anchor="ctr">
            <a:normAutofit/>
          </a:bodyPr>
          <a:lstStyle/>
          <a:p>
            <a:pPr indent="0" marL="0">
              <a:buNone/>
            </a:pPr>
            <a:r>
              <a:rPr lang="en-US" sz="1700" dirty="0">
                <a:solidFill>
                  <a:srgbClr val="172033"/>
                </a:solidFill>
                <a:latin typeface="Aptos" pitchFamily="34" charset="0"/>
                <a:ea typeface="Aptos" pitchFamily="34" charset="-122"/>
                <a:cs typeface="Aptos" pitchFamily="34" charset="-120"/>
              </a:rPr>
              <a:t>LLMs are widely used in QA, summarization, code generation, education, and decision-support systems.</a:t>
            </a:r>
            <a:endParaRPr lang="en-US" sz="1700" dirty="0"/>
          </a:p>
        </p:txBody>
      </p:sp>
      <p:sp>
        <p:nvSpPr>
          <p:cNvPr id="7" name="Text 5"/>
          <p:cNvSpPr/>
          <p:nvPr/>
        </p:nvSpPr>
        <p:spPr>
          <a:xfrm>
            <a:off x="4462272" y="1353312"/>
            <a:ext cx="3063240" cy="1234440"/>
          </a:xfrm>
          <a:prstGeom prst="rect">
            <a:avLst/>
          </a:prstGeom>
          <a:solidFill>
            <a:srgbClr val="FDECEC"/>
          </a:solidFill>
          <a:ln>
            <a:solidFill>
              <a:srgbClr val="FFFFFF">
                <a:alpha val="0"/>
              </a:srgbClr>
            </a:solidFill>
          </a:ln>
        </p:spPr>
        <p:txBody>
          <a:bodyPr wrap="square" lIns="1524" tIns="1524" rIns="1524" bIns="1524" rtlCol="0" anchor="ctr">
            <a:normAutofit/>
          </a:bodyPr>
          <a:lstStyle/>
          <a:p>
            <a:pPr algn="ctr" indent="0" marL="0">
              <a:buNone/>
            </a:pPr>
            <a:r>
              <a:rPr lang="en-US" sz="2000" b="1" dirty="0">
                <a:solidFill>
                  <a:srgbClr val="D64B4B"/>
                </a:solidFill>
                <a:latin typeface="Aptos" pitchFamily="34" charset="0"/>
                <a:ea typeface="Aptos" pitchFamily="34" charset="-122"/>
                <a:cs typeface="Aptos" pitchFamily="34" charset="-120"/>
              </a:rPr>
              <a:t>Problem</a:t>
            </a:r>
            <a:endParaRPr lang="en-US" sz="2000" dirty="0"/>
          </a:p>
          <a:p>
            <a:pPr algn="ctr" indent="0" marL="0">
              <a:buNone/>
            </a:pPr>
            <a:r>
              <a:rPr lang="en-US" sz="2000" b="1" dirty="0">
                <a:solidFill>
                  <a:srgbClr val="D64B4B"/>
                </a:solidFill>
                <a:latin typeface="Aptos" pitchFamily="34" charset="0"/>
                <a:ea typeface="Aptos" pitchFamily="34" charset="-122"/>
                <a:cs typeface="Aptos" pitchFamily="34" charset="-120"/>
              </a:rPr>
              <a:t>Fluent outputs can still be factually wrong.</a:t>
            </a:r>
            <a:endParaRPr lang="en-US" sz="2000" dirty="0"/>
          </a:p>
        </p:txBody>
      </p:sp>
      <p:sp>
        <p:nvSpPr>
          <p:cNvPr id="8" name="Text 6"/>
          <p:cNvSpPr/>
          <p:nvPr/>
        </p:nvSpPr>
        <p:spPr>
          <a:xfrm>
            <a:off x="7936992" y="1481328"/>
            <a:ext cx="3246120" cy="96012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700" dirty="0">
                <a:solidFill>
                  <a:srgbClr val="172033"/>
                </a:solidFill>
                <a:latin typeface="Aptos" pitchFamily="34" charset="0"/>
                <a:ea typeface="Aptos" pitchFamily="34" charset="-122"/>
                <a:cs typeface="Aptos" pitchFamily="34" charset="-120"/>
              </a:rPr>
              <a:t>High-stakes domains</a:t>
            </a:r>
            <a:endParaRPr lang="en-US" sz="1700" dirty="0"/>
          </a:p>
          <a:p>
            <a:pPr algn="ctr" indent="0" marL="0">
              <a:buNone/>
            </a:pPr>
            <a:r>
              <a:rPr lang="en-US" sz="1700" dirty="0">
                <a:solidFill>
                  <a:srgbClr val="172033"/>
                </a:solidFill>
                <a:latin typeface="Aptos" pitchFamily="34" charset="0"/>
                <a:ea typeface="Aptos" pitchFamily="34" charset="-122"/>
                <a:cs typeface="Aptos" pitchFamily="34" charset="-120"/>
              </a:rPr>
              <a:t>medicine · law · science</a:t>
            </a:r>
            <a:endParaRPr lang="en-US" sz="1700" dirty="0"/>
          </a:p>
          <a:p>
            <a:pPr algn="ctr" indent="0" marL="0">
              <a:buNone/>
            </a:pPr>
            <a:r>
              <a:rPr lang="en-US" sz="1700" dirty="0">
                <a:solidFill>
                  <a:srgbClr val="172033"/>
                </a:solidFill>
                <a:latin typeface="Aptos" pitchFamily="34" charset="0"/>
                <a:ea typeface="Aptos" pitchFamily="34" charset="-122"/>
                <a:cs typeface="Aptos" pitchFamily="34" charset="-120"/>
              </a:rPr>
              <a:t>wrong answer → consequential risk</a:t>
            </a:r>
            <a:endParaRPr lang="en-US" sz="1700" dirty="0"/>
          </a:p>
        </p:txBody>
      </p:sp>
      <p:sp>
        <p:nvSpPr>
          <p:cNvPr id="9" name="Text 7"/>
          <p:cNvSpPr/>
          <p:nvPr/>
        </p:nvSpPr>
        <p:spPr>
          <a:xfrm>
            <a:off x="896112" y="3291840"/>
            <a:ext cx="6400800" cy="320040"/>
          </a:xfrm>
          <a:prstGeom prst="rect">
            <a:avLst/>
          </a:prstGeom>
          <a:noFill/>
          <a:ln/>
        </p:spPr>
        <p:txBody>
          <a:bodyPr wrap="square" lIns="0" tIns="0" rIns="0" bIns="0" rtlCol="0" anchor="ctr">
            <a:normAutofit/>
          </a:bodyPr>
          <a:lstStyle/>
          <a:p>
            <a:pPr indent="0" marL="0">
              <a:buNone/>
            </a:pPr>
            <a:r>
              <a:rPr lang="en-US" sz="2200" b="1" dirty="0">
                <a:solidFill>
                  <a:srgbClr val="172033"/>
                </a:solidFill>
                <a:latin typeface="Aptos" pitchFamily="34" charset="0"/>
                <a:ea typeface="Aptos" pitchFamily="34" charset="-122"/>
                <a:cs typeface="Aptos" pitchFamily="34" charset="-120"/>
              </a:rPr>
              <a:t>Uncertainty score enables a system-level decision:</a:t>
            </a:r>
            <a:endParaRPr lang="en-US" sz="2200" dirty="0"/>
          </a:p>
        </p:txBody>
      </p:sp>
      <p:sp>
        <p:nvSpPr>
          <p:cNvPr id="10" name="Text 8"/>
          <p:cNvSpPr/>
          <p:nvPr/>
        </p:nvSpPr>
        <p:spPr>
          <a:xfrm>
            <a:off x="950976" y="3931920"/>
            <a:ext cx="1920240" cy="594360"/>
          </a:xfrm>
          <a:prstGeom prst="rect">
            <a:avLst/>
          </a:prstGeom>
          <a:solidFill>
            <a:srgbClr val="E7F7F3"/>
          </a:solidFill>
          <a:ln>
            <a:solidFill>
              <a:srgbClr val="FFFFFF">
                <a:alpha val="0"/>
              </a:srgbClr>
            </a:solidFill>
          </a:ln>
        </p:spPr>
        <p:txBody>
          <a:bodyPr wrap="square" lIns="1524" tIns="1524" rIns="1524" bIns="1524" rtlCol="0" anchor="ctr">
            <a:normAutofit/>
          </a:bodyPr>
          <a:lstStyle/>
          <a:p>
            <a:pPr algn="ctr" indent="0" marL="0">
              <a:buNone/>
            </a:pPr>
            <a:r>
              <a:rPr lang="en-US" sz="2000" b="1" dirty="0">
                <a:solidFill>
                  <a:srgbClr val="00A78E"/>
                </a:solidFill>
                <a:latin typeface="Aptos" pitchFamily="34" charset="0"/>
                <a:ea typeface="Aptos" pitchFamily="34" charset="-122"/>
                <a:cs typeface="Aptos" pitchFamily="34" charset="-120"/>
              </a:rPr>
              <a:t>Accept</a:t>
            </a:r>
            <a:endParaRPr lang="en-US" sz="2000" dirty="0"/>
          </a:p>
        </p:txBody>
      </p:sp>
      <p:sp>
        <p:nvSpPr>
          <p:cNvPr id="11" name="Text 9"/>
          <p:cNvSpPr/>
          <p:nvPr/>
        </p:nvSpPr>
        <p:spPr>
          <a:xfrm>
            <a:off x="3108960" y="4041648"/>
            <a:ext cx="329184" cy="228600"/>
          </a:xfrm>
          <a:prstGeom prst="rect">
            <a:avLst/>
          </a:prstGeom>
          <a:noFill/>
          <a:ln/>
        </p:spPr>
        <p:txBody>
          <a:bodyPr wrap="square" lIns="0" tIns="0" rIns="0" bIns="0" rtlCol="0" anchor="ctr">
            <a:normAutofit/>
          </a:bodyPr>
          <a:lstStyle/>
          <a:p>
            <a:pPr algn="ctr" indent="0" marL="0">
              <a:buNone/>
            </a:pPr>
            <a:r>
              <a:rPr lang="en-US" sz="1300" dirty="0">
                <a:solidFill>
                  <a:srgbClr val="5D667A"/>
                </a:solidFill>
                <a:latin typeface="Aptos" pitchFamily="34" charset="0"/>
                <a:ea typeface="Aptos" pitchFamily="34" charset="-122"/>
                <a:cs typeface="Aptos" pitchFamily="34" charset="-120"/>
              </a:rPr>
              <a:t>or</a:t>
            </a:r>
            <a:endParaRPr lang="en-US" sz="1300" dirty="0"/>
          </a:p>
        </p:txBody>
      </p:sp>
      <p:sp>
        <p:nvSpPr>
          <p:cNvPr id="12" name="Text 10"/>
          <p:cNvSpPr/>
          <p:nvPr/>
        </p:nvSpPr>
        <p:spPr>
          <a:xfrm>
            <a:off x="3593592" y="3785616"/>
            <a:ext cx="2057400" cy="868680"/>
          </a:xfrm>
          <a:prstGeom prst="rect">
            <a:avLst/>
          </a:prstGeom>
          <a:solidFill>
            <a:srgbClr val="FFF3D6"/>
          </a:solidFill>
          <a:ln>
            <a:solidFill>
              <a:srgbClr val="FFFFFF">
                <a:alpha val="0"/>
              </a:srgbClr>
            </a:solidFill>
          </a:ln>
        </p:spPr>
        <p:txBody>
          <a:bodyPr wrap="square" lIns="1524" tIns="1524" rIns="1524" bIns="1524" rtlCol="0" anchor="ctr">
            <a:normAutofit/>
          </a:bodyPr>
          <a:lstStyle/>
          <a:p>
            <a:pPr algn="ctr" indent="0" marL="0">
              <a:buNone/>
            </a:pPr>
            <a:r>
              <a:rPr lang="en-US" sz="1800" b="1" dirty="0">
                <a:solidFill>
                  <a:srgbClr val="F6A623"/>
                </a:solidFill>
                <a:latin typeface="Aptos" pitchFamily="34" charset="0"/>
                <a:ea typeface="Aptos" pitchFamily="34" charset="-122"/>
                <a:cs typeface="Aptos" pitchFamily="34" charset="-120"/>
              </a:rPr>
              <a:t>Verify</a:t>
            </a:r>
            <a:endParaRPr lang="en-US" sz="1800" dirty="0"/>
          </a:p>
          <a:p>
            <a:pPr algn="ctr" indent="0" marL="0">
              <a:buNone/>
            </a:pPr>
            <a:r>
              <a:rPr lang="en-US" sz="1800" b="1" dirty="0">
                <a:solidFill>
                  <a:srgbClr val="F6A623"/>
                </a:solidFill>
                <a:latin typeface="Aptos" pitchFamily="34" charset="0"/>
                <a:ea typeface="Aptos" pitchFamily="34" charset="-122"/>
                <a:cs typeface="Aptos" pitchFamily="34" charset="-120"/>
              </a:rPr>
              <a:t>via retrieval</a:t>
            </a:r>
            <a:endParaRPr lang="en-US" sz="1800" dirty="0"/>
          </a:p>
        </p:txBody>
      </p:sp>
      <p:sp>
        <p:nvSpPr>
          <p:cNvPr id="13" name="Text 11"/>
          <p:cNvSpPr/>
          <p:nvPr/>
        </p:nvSpPr>
        <p:spPr>
          <a:xfrm>
            <a:off x="5870448" y="4041648"/>
            <a:ext cx="329184" cy="228600"/>
          </a:xfrm>
          <a:prstGeom prst="rect">
            <a:avLst/>
          </a:prstGeom>
          <a:noFill/>
          <a:ln/>
        </p:spPr>
        <p:txBody>
          <a:bodyPr wrap="square" lIns="0" tIns="0" rIns="0" bIns="0" rtlCol="0" anchor="ctr">
            <a:normAutofit/>
          </a:bodyPr>
          <a:lstStyle/>
          <a:p>
            <a:pPr algn="ctr" indent="0" marL="0">
              <a:buNone/>
            </a:pPr>
            <a:r>
              <a:rPr lang="en-US" sz="1300" dirty="0">
                <a:solidFill>
                  <a:srgbClr val="5D667A"/>
                </a:solidFill>
                <a:latin typeface="Aptos" pitchFamily="34" charset="0"/>
                <a:ea typeface="Aptos" pitchFamily="34" charset="-122"/>
                <a:cs typeface="Aptos" pitchFamily="34" charset="-120"/>
              </a:rPr>
              <a:t>or</a:t>
            </a:r>
            <a:endParaRPr lang="en-US" sz="1300" dirty="0"/>
          </a:p>
        </p:txBody>
      </p:sp>
      <p:sp>
        <p:nvSpPr>
          <p:cNvPr id="14" name="Text 12"/>
          <p:cNvSpPr/>
          <p:nvPr/>
        </p:nvSpPr>
        <p:spPr>
          <a:xfrm>
            <a:off x="6355080" y="3785616"/>
            <a:ext cx="2240280" cy="868680"/>
          </a:xfrm>
          <a:prstGeom prst="rect">
            <a:avLst/>
          </a:prstGeom>
          <a:solidFill>
            <a:srgbClr val="E8EDFF"/>
          </a:solidFill>
          <a:ln>
            <a:solidFill>
              <a:srgbClr val="FFFFFF">
                <a:alpha val="0"/>
              </a:srgbClr>
            </a:solidFill>
          </a:ln>
        </p:spPr>
        <p:txBody>
          <a:bodyPr wrap="square" lIns="1524" tIns="1524" rIns="1524" bIns="1524" rtlCol="0" anchor="ctr">
            <a:normAutofit/>
          </a:bodyPr>
          <a:lstStyle/>
          <a:p>
            <a:pPr algn="ctr" indent="0" marL="0">
              <a:buNone/>
            </a:pPr>
            <a:r>
              <a:rPr lang="en-US" sz="1800" b="1" dirty="0">
                <a:solidFill>
                  <a:srgbClr val="3D63FF"/>
                </a:solidFill>
                <a:latin typeface="Aptos" pitchFamily="34" charset="0"/>
                <a:ea typeface="Aptos" pitchFamily="34" charset="-122"/>
                <a:cs typeface="Aptos" pitchFamily="34" charset="-120"/>
              </a:rPr>
              <a:t>Defer</a:t>
            </a:r>
            <a:endParaRPr lang="en-US" sz="1800" dirty="0"/>
          </a:p>
          <a:p>
            <a:pPr algn="ctr" indent="0" marL="0">
              <a:buNone/>
            </a:pPr>
            <a:r>
              <a:rPr lang="en-US" sz="1800" b="1" dirty="0">
                <a:solidFill>
                  <a:srgbClr val="3D63FF"/>
                </a:solidFill>
                <a:latin typeface="Aptos" pitchFamily="34" charset="0"/>
                <a:ea typeface="Aptos" pitchFamily="34" charset="-122"/>
                <a:cs typeface="Aptos" pitchFamily="34" charset="-120"/>
              </a:rPr>
              <a:t>to human review</a:t>
            </a:r>
            <a:endParaRPr lang="en-US" sz="1800" dirty="0"/>
          </a:p>
        </p:txBody>
      </p:sp>
      <p:sp>
        <p:nvSpPr>
          <p:cNvPr id="15" name="Text 13"/>
          <p:cNvSpPr/>
          <p:nvPr/>
        </p:nvSpPr>
        <p:spPr>
          <a:xfrm>
            <a:off x="914400" y="5376672"/>
            <a:ext cx="10241280" cy="502920"/>
          </a:xfrm>
          <a:prstGeom prst="rect">
            <a:avLst/>
          </a:prstGeom>
          <a:solidFill>
            <a:srgbClr val="0E1726"/>
          </a:solidFill>
          <a:ln>
            <a:solidFill>
              <a:srgbClr val="0E1726"/>
            </a:solidFill>
          </a:ln>
        </p:spPr>
        <p:txBody>
          <a:bodyPr wrap="square" lIns="1524" tIns="1524" rIns="1524" bIns="1524" rtlCol="0" anchor="ctr">
            <a:normAutofit/>
          </a:bodyPr>
          <a:lstStyle/>
          <a:p>
            <a:pPr algn="ctr" indent="0" marL="0">
              <a:buNone/>
            </a:pPr>
            <a:r>
              <a:rPr lang="en-US" sz="1900" b="1" dirty="0">
                <a:solidFill>
                  <a:srgbClr val="FFFFFF"/>
                </a:solidFill>
                <a:latin typeface="Aptos" pitchFamily="34" charset="0"/>
                <a:ea typeface="Aptos" pitchFamily="34" charset="-122"/>
                <a:cs typeface="Aptos" pitchFamily="34" charset="-120"/>
              </a:rPr>
              <a:t>Survey focus: metrics that make this decision theoretically and empirically meaningful.</a:t>
            </a:r>
            <a:endParaRPr lang="en-US" sz="1900" dirty="0"/>
          </a:p>
        </p:txBody>
      </p:sp>
      <p:sp>
        <p:nvSpPr>
          <p:cNvPr id="16" name="Text 14"/>
          <p:cNvSpPr/>
          <p:nvPr/>
        </p:nvSpPr>
        <p:spPr>
          <a:xfrm>
            <a:off x="566928" y="6473952"/>
            <a:ext cx="8046720" cy="164592"/>
          </a:xfrm>
          <a:prstGeom prst="rect">
            <a:avLst/>
          </a:prstGeom>
          <a:noFill/>
          <a:ln/>
        </p:spPr>
        <p:txBody>
          <a:bodyPr wrap="square" lIns="0" tIns="0" rIns="0" bIns="0" rtlCol="0" anchor="ctr">
            <a:normAutofit/>
          </a:bodyPr>
          <a:lstStyle/>
          <a:p>
            <a:pPr indent="0" marL="0">
              <a:buNone/>
            </a:pPr>
            <a:r>
              <a:rPr lang="en-US" sz="750" dirty="0">
                <a:solidFill>
                  <a:srgbClr val="7A8294"/>
                </a:solidFill>
              </a:rPr>
              <a:t>Motivation based on hallucination and UQ framing: [2], [4], [9]</a:t>
            </a:r>
            <a:endParaRPr lang="en-US" sz="750" dirty="0"/>
          </a:p>
        </p:txBody>
      </p:sp>
      <p:sp>
        <p:nvSpPr>
          <p:cNvPr id="17" name="Text 15"/>
          <p:cNvSpPr/>
          <p:nvPr/>
        </p:nvSpPr>
        <p:spPr>
          <a:xfrm>
            <a:off x="9326880" y="6473952"/>
            <a:ext cx="2286000" cy="164592"/>
          </a:xfrm>
          <a:prstGeom prst="rect">
            <a:avLst/>
          </a:prstGeom>
          <a:noFill/>
          <a:ln/>
        </p:spPr>
        <p:txBody>
          <a:bodyPr wrap="square" lIns="0" tIns="0" rIns="0" bIns="0" rtlCol="0" anchor="ctr">
            <a:normAutofit/>
          </a:bodyPr>
          <a:lstStyle/>
          <a:p>
            <a:pPr algn="r" indent="0" marL="0">
              <a:buNone/>
            </a:pPr>
            <a:r>
              <a:rPr lang="en-US" sz="750" dirty="0">
                <a:solidFill>
                  <a:srgbClr val="7A8294"/>
                </a:solidFill>
              </a:rPr>
              <a:t>LLM Uncertainty Metrics Survey</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530352" y="301752"/>
            <a:ext cx="502920" cy="256032"/>
          </a:xfrm>
          <a:prstGeom prst="rect">
            <a:avLst/>
          </a:prstGeom>
          <a:noFill/>
          <a:ln/>
        </p:spPr>
        <p:txBody>
          <a:bodyPr wrap="square" lIns="0" tIns="0" rIns="0" bIns="0" rtlCol="0" anchor="ctr"/>
          <a:lstStyle/>
          <a:p>
            <a:pPr indent="0" marL="0">
              <a:buNone/>
            </a:pPr>
            <a:r>
              <a:rPr lang="en-US" sz="1000" b="1" dirty="0">
                <a:solidFill>
                  <a:srgbClr val="3D63FF"/>
                </a:solidFill>
                <a:latin typeface="Aptos" pitchFamily="34" charset="0"/>
                <a:ea typeface="Aptos" pitchFamily="34" charset="-122"/>
                <a:cs typeface="Aptos" pitchFamily="34" charset="-120"/>
              </a:rPr>
              <a:t>03</a:t>
            </a:r>
            <a:endParaRPr lang="en-US" sz="1000" dirty="0"/>
          </a:p>
        </p:txBody>
      </p:sp>
      <p:sp>
        <p:nvSpPr>
          <p:cNvPr id="3" name="Text 1"/>
          <p:cNvSpPr/>
          <p:nvPr/>
        </p:nvSpPr>
        <p:spPr>
          <a:xfrm>
            <a:off x="1097280" y="228600"/>
            <a:ext cx="8778240" cy="457200"/>
          </a:xfrm>
          <a:prstGeom prst="rect">
            <a:avLst/>
          </a:prstGeom>
          <a:noFill/>
          <a:ln/>
        </p:spPr>
        <p:txBody>
          <a:bodyPr wrap="square" lIns="254" tIns="254" rIns="254" bIns="254" rtlCol="0" anchor="ctr">
            <a:normAutofit/>
          </a:bodyPr>
          <a:lstStyle/>
          <a:p>
            <a:pPr indent="0" marL="0">
              <a:buNone/>
            </a:pPr>
            <a:r>
              <a:rPr lang="en-US" sz="2800" b="1" dirty="0">
                <a:solidFill>
                  <a:srgbClr val="172033"/>
                </a:solidFill>
                <a:latin typeface="Aptos Display" pitchFamily="34" charset="0"/>
                <a:ea typeface="Aptos Display" pitchFamily="34" charset="-122"/>
                <a:cs typeface="Aptos Display" pitchFamily="34" charset="-120"/>
              </a:rPr>
              <a:t>Two sources of uncertainty</a:t>
            </a:r>
            <a:endParaRPr lang="en-US" sz="2800" dirty="0"/>
          </a:p>
        </p:txBody>
      </p:sp>
      <p:sp>
        <p:nvSpPr>
          <p:cNvPr id="4" name="Text 2"/>
          <p:cNvSpPr/>
          <p:nvPr/>
        </p:nvSpPr>
        <p:spPr>
          <a:xfrm>
            <a:off x="1097280" y="694944"/>
            <a:ext cx="8961120" cy="292608"/>
          </a:xfrm>
          <a:prstGeom prst="rect">
            <a:avLst/>
          </a:prstGeom>
          <a:noFill/>
          <a:ln/>
        </p:spPr>
        <p:txBody>
          <a:bodyPr wrap="square" lIns="254" tIns="254" rIns="254" bIns="254" rtlCol="0" anchor="ctr">
            <a:normAutofit/>
          </a:bodyPr>
          <a:lstStyle/>
          <a:p>
            <a:pPr indent="0" marL="0">
              <a:buNone/>
            </a:pPr>
            <a:r>
              <a:rPr lang="en-US" sz="1250" dirty="0">
                <a:solidFill>
                  <a:srgbClr val="5D667A"/>
                </a:solidFill>
                <a:latin typeface="Aptos" pitchFamily="34" charset="0"/>
                <a:ea typeface="Aptos" pitchFamily="34" charset="-122"/>
                <a:cs typeface="Aptos" pitchFamily="34" charset="-120"/>
              </a:rPr>
              <a:t>The main target is epistemic uncertainty, not benign linguistic variation</a:t>
            </a:r>
            <a:endParaRPr lang="en-US" sz="1250" dirty="0"/>
          </a:p>
        </p:txBody>
      </p:sp>
      <p:sp>
        <p:nvSpPr>
          <p:cNvPr id="5" name="Shape 3"/>
          <p:cNvSpPr/>
          <p:nvPr/>
        </p:nvSpPr>
        <p:spPr>
          <a:xfrm>
            <a:off x="530352" y="1060704"/>
            <a:ext cx="11155680" cy="0"/>
          </a:xfrm>
          <a:prstGeom prst="line">
            <a:avLst/>
          </a:prstGeom>
          <a:noFill/>
          <a:ln w="12700">
            <a:solidFill>
              <a:srgbClr val="D7DDEB"/>
            </a:solidFill>
            <a:prstDash val="solid"/>
          </a:ln>
        </p:spPr>
      </p:sp>
      <p:sp>
        <p:nvSpPr>
          <p:cNvPr id="6" name="Text 4"/>
          <p:cNvSpPr/>
          <p:nvPr/>
        </p:nvSpPr>
        <p:spPr>
          <a:xfrm>
            <a:off x="804672" y="1417320"/>
            <a:ext cx="5074920" cy="502920"/>
          </a:xfrm>
          <a:prstGeom prst="rect">
            <a:avLst/>
          </a:prstGeom>
          <a:solidFill>
            <a:srgbClr val="FFF3D6"/>
          </a:solidFill>
          <a:ln>
            <a:solidFill>
              <a:srgbClr val="FFFFFF">
                <a:alpha val="0"/>
              </a:srgbClr>
            </a:solidFill>
          </a:ln>
        </p:spPr>
        <p:txBody>
          <a:bodyPr wrap="square" lIns="1524" tIns="1524" rIns="1524" bIns="1524" rtlCol="0" anchor="ctr">
            <a:normAutofit/>
          </a:bodyPr>
          <a:lstStyle/>
          <a:p>
            <a:pPr algn="ctr" indent="0" marL="0">
              <a:buNone/>
            </a:pPr>
            <a:r>
              <a:rPr lang="en-US" sz="2200" b="1" dirty="0">
                <a:solidFill>
                  <a:srgbClr val="F6A623"/>
                </a:solidFill>
                <a:latin typeface="Aptos" pitchFamily="34" charset="0"/>
                <a:ea typeface="Aptos" pitchFamily="34" charset="-122"/>
                <a:cs typeface="Aptos" pitchFamily="34" charset="-120"/>
              </a:rPr>
              <a:t>Aleatoric uncertainty</a:t>
            </a:r>
            <a:endParaRPr lang="en-US" sz="2200" dirty="0"/>
          </a:p>
        </p:txBody>
      </p:sp>
      <p:sp>
        <p:nvSpPr>
          <p:cNvPr id="7" name="Text 5"/>
          <p:cNvSpPr/>
          <p:nvPr/>
        </p:nvSpPr>
        <p:spPr>
          <a:xfrm>
            <a:off x="804672" y="2057400"/>
            <a:ext cx="5074920" cy="2395728"/>
          </a:xfrm>
          <a:prstGeom prst="rect">
            <a:avLst/>
          </a:prstGeom>
          <a:solidFill>
            <a:srgbClr val="FFFFFF"/>
          </a:solidFill>
          <a:ln>
            <a:solidFill>
              <a:srgbClr val="D7DDEB"/>
            </a:solidFill>
          </a:ln>
        </p:spPr>
        <p:txBody>
          <a:bodyPr wrap="square" lIns="1524" tIns="1524" rIns="1524" bIns="1524" rtlCol="0" anchor="ctr">
            <a:normAutofit/>
          </a:bodyPr>
          <a:lstStyle/>
          <a:p>
            <a:pPr indent="0" marL="0">
              <a:buNone/>
            </a:pPr>
            <a:r>
              <a:rPr lang="en-US" sz="1700" dirty="0">
                <a:solidFill>
                  <a:srgbClr val="172033"/>
                </a:solidFill>
                <a:latin typeface="Aptos" pitchFamily="34" charset="0"/>
                <a:ea typeface="Aptos" pitchFamily="34" charset="-122"/>
                <a:cs typeface="Aptos" pitchFamily="34" charset="-120"/>
              </a:rPr>
              <a:t>Irreducible ambiguity in the prompt or task.</a:t>
            </a:r>
            <a:endParaRPr lang="en-US" sz="1700" dirty="0"/>
          </a:p>
          <a:p>
            <a:pPr indent="0" marL="0">
              <a:buNone/>
            </a:pPr>
            <a:endParaRPr lang="en-US" sz="1700" dirty="0"/>
          </a:p>
          <a:p>
            <a:pPr indent="0" marL="0">
              <a:buNone/>
            </a:pPr>
            <a:r>
              <a:rPr lang="en-US" sz="1700" dirty="0">
                <a:solidFill>
                  <a:srgbClr val="172033"/>
                </a:solidFill>
                <a:latin typeface="Aptos" pitchFamily="34" charset="0"/>
                <a:ea typeface="Aptos" pitchFamily="34" charset="-122"/>
                <a:cs typeface="Aptos" pitchFamily="34" charset="-120"/>
              </a:rPr>
              <a:t>Example: “Write a greeting.”</a:t>
            </a:r>
            <a:endParaRPr lang="en-US" sz="1700" dirty="0"/>
          </a:p>
          <a:p>
            <a:pPr indent="0" marL="0">
              <a:buNone/>
            </a:pPr>
            <a:r>
              <a:rPr lang="en-US" sz="1700" dirty="0">
                <a:solidFill>
                  <a:srgbClr val="172033"/>
                </a:solidFill>
                <a:latin typeface="Aptos" pitchFamily="34" charset="0"/>
                <a:ea typeface="Aptos" pitchFamily="34" charset="-122"/>
                <a:cs typeface="Aptos" pitchFamily="34" charset="-120"/>
              </a:rPr>
              <a:t>Valid outputs: “Hello,” “Hi,” “Good morning.”</a:t>
            </a:r>
            <a:endParaRPr lang="en-US" sz="1700" dirty="0"/>
          </a:p>
          <a:p>
            <a:pPr indent="0" marL="0">
              <a:buNone/>
            </a:pPr>
            <a:endParaRPr lang="en-US" sz="1700" dirty="0"/>
          </a:p>
          <a:p>
            <a:pPr indent="0" marL="0">
              <a:buNone/>
            </a:pPr>
            <a:r>
              <a:rPr lang="en-US" sz="1700" dirty="0">
                <a:solidFill>
                  <a:srgbClr val="172033"/>
                </a:solidFill>
                <a:latin typeface="Aptos" pitchFamily="34" charset="0"/>
                <a:ea typeface="Aptos" pitchFamily="34" charset="-122"/>
                <a:cs typeface="Aptos" pitchFamily="34" charset="-120"/>
              </a:rPr>
              <a:t>Variation here does not imply lack of knowledge.</a:t>
            </a:r>
            <a:endParaRPr lang="en-US" sz="1700" dirty="0"/>
          </a:p>
        </p:txBody>
      </p:sp>
      <p:sp>
        <p:nvSpPr>
          <p:cNvPr id="8" name="Text 6"/>
          <p:cNvSpPr/>
          <p:nvPr/>
        </p:nvSpPr>
        <p:spPr>
          <a:xfrm>
            <a:off x="6327648" y="1417320"/>
            <a:ext cx="5074920" cy="502920"/>
          </a:xfrm>
          <a:prstGeom prst="rect">
            <a:avLst/>
          </a:prstGeom>
          <a:solidFill>
            <a:srgbClr val="E8EDFF"/>
          </a:solidFill>
          <a:ln>
            <a:solidFill>
              <a:srgbClr val="FFFFFF">
                <a:alpha val="0"/>
              </a:srgbClr>
            </a:solidFill>
          </a:ln>
        </p:spPr>
        <p:txBody>
          <a:bodyPr wrap="square" lIns="1524" tIns="1524" rIns="1524" bIns="1524" rtlCol="0" anchor="ctr">
            <a:normAutofit/>
          </a:bodyPr>
          <a:lstStyle/>
          <a:p>
            <a:pPr algn="ctr" indent="0" marL="0">
              <a:buNone/>
            </a:pPr>
            <a:r>
              <a:rPr lang="en-US" sz="2200" b="1" dirty="0">
                <a:solidFill>
                  <a:srgbClr val="3D63FF"/>
                </a:solidFill>
                <a:latin typeface="Aptos" pitchFamily="34" charset="0"/>
                <a:ea typeface="Aptos" pitchFamily="34" charset="-122"/>
                <a:cs typeface="Aptos" pitchFamily="34" charset="-120"/>
              </a:rPr>
              <a:t>Epistemic uncertainty</a:t>
            </a:r>
            <a:endParaRPr lang="en-US" sz="2200" dirty="0"/>
          </a:p>
        </p:txBody>
      </p:sp>
      <p:sp>
        <p:nvSpPr>
          <p:cNvPr id="9" name="Text 7"/>
          <p:cNvSpPr/>
          <p:nvPr/>
        </p:nvSpPr>
        <p:spPr>
          <a:xfrm>
            <a:off x="6327648" y="2057400"/>
            <a:ext cx="5074920" cy="2395728"/>
          </a:xfrm>
          <a:prstGeom prst="rect">
            <a:avLst/>
          </a:prstGeom>
          <a:solidFill>
            <a:srgbClr val="FFFFFF"/>
          </a:solidFill>
          <a:ln>
            <a:solidFill>
              <a:srgbClr val="D7DDEB"/>
            </a:solidFill>
          </a:ln>
        </p:spPr>
        <p:txBody>
          <a:bodyPr wrap="square" lIns="1524" tIns="1524" rIns="1524" bIns="1524" rtlCol="0" anchor="ctr">
            <a:normAutofit/>
          </a:bodyPr>
          <a:lstStyle/>
          <a:p>
            <a:pPr indent="0" marL="0">
              <a:buNone/>
            </a:pPr>
            <a:r>
              <a:rPr lang="en-US" sz="1700" dirty="0">
                <a:solidFill>
                  <a:srgbClr val="172033"/>
                </a:solidFill>
                <a:latin typeface="Aptos" pitchFamily="34" charset="0"/>
                <a:ea typeface="Aptos" pitchFamily="34" charset="-122"/>
                <a:cs typeface="Aptos" pitchFamily="34" charset="-120"/>
              </a:rPr>
              <a:t>Uncertainty caused by insufficient model knowledge.</a:t>
            </a:r>
            <a:endParaRPr lang="en-US" sz="1700" dirty="0"/>
          </a:p>
          <a:p>
            <a:pPr indent="0" marL="0">
              <a:buNone/>
            </a:pPr>
            <a:endParaRPr lang="en-US" sz="1700" dirty="0"/>
          </a:p>
          <a:p>
            <a:pPr indent="0" marL="0">
              <a:buNone/>
            </a:pPr>
            <a:r>
              <a:rPr lang="en-US" sz="1700" dirty="0">
                <a:solidFill>
                  <a:srgbClr val="172033"/>
                </a:solidFill>
                <a:latin typeface="Aptos" pitchFamily="34" charset="0"/>
                <a:ea typeface="Aptos" pitchFamily="34" charset="-122"/>
                <a:cs typeface="Aptos" pitchFamily="34" charset="-120"/>
              </a:rPr>
              <a:t>Example: rare fact, specialized domain, weak factual grounding.</a:t>
            </a:r>
            <a:endParaRPr lang="en-US" sz="1700" dirty="0"/>
          </a:p>
          <a:p>
            <a:pPr indent="0" marL="0">
              <a:buNone/>
            </a:pPr>
            <a:endParaRPr lang="en-US" sz="1700" dirty="0"/>
          </a:p>
          <a:p>
            <a:pPr indent="0" marL="0">
              <a:buNone/>
            </a:pPr>
            <a:r>
              <a:rPr lang="en-US" sz="1700" dirty="0">
                <a:solidFill>
                  <a:srgbClr val="172033"/>
                </a:solidFill>
                <a:latin typeface="Aptos" pitchFamily="34" charset="0"/>
                <a:ea typeface="Aptos" pitchFamily="34" charset="-122"/>
                <a:cs typeface="Aptos" pitchFamily="34" charset="-120"/>
              </a:rPr>
              <a:t>Hallucination is more closely related to this uncertainty type.</a:t>
            </a:r>
            <a:endParaRPr lang="en-US" sz="1700" dirty="0"/>
          </a:p>
        </p:txBody>
      </p:sp>
      <p:sp>
        <p:nvSpPr>
          <p:cNvPr id="10" name="Text 8"/>
          <p:cNvSpPr/>
          <p:nvPr/>
        </p:nvSpPr>
        <p:spPr>
          <a:xfrm>
            <a:off x="1371600" y="5138928"/>
            <a:ext cx="9418320" cy="658368"/>
          </a:xfrm>
          <a:prstGeom prst="rect">
            <a:avLst/>
          </a:prstGeom>
          <a:solidFill>
            <a:srgbClr val="0E1726"/>
          </a:solidFill>
          <a:ln>
            <a:solidFill>
              <a:srgbClr val="FFFFFF">
                <a:alpha val="0"/>
              </a:srgbClr>
            </a:solidFill>
          </a:ln>
        </p:spPr>
        <p:txBody>
          <a:bodyPr wrap="square" lIns="1524" tIns="1524" rIns="1524" bIns="1524"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Goal of UQ for LLMs</a:t>
            </a:r>
            <a:endParaRPr lang="en-US" sz="2000" dirty="0"/>
          </a:p>
          <a:p>
            <a:pPr algn="ctr" indent="0" marL="0">
              <a:buNone/>
            </a:pPr>
            <a:r>
              <a:rPr lang="en-US" sz="2000" b="1" dirty="0">
                <a:solidFill>
                  <a:srgbClr val="FFFFFF"/>
                </a:solidFill>
                <a:latin typeface="Aptos" pitchFamily="34" charset="0"/>
                <a:ea typeface="Aptos" pitchFamily="34" charset="-122"/>
                <a:cs typeface="Aptos" pitchFamily="34" charset="-120"/>
              </a:rPr>
              <a:t>Distinguish harmless variation in expression from genuine uncertainty about meaning or truth.</a:t>
            </a:r>
            <a:endParaRPr lang="en-US" sz="2000" dirty="0"/>
          </a:p>
        </p:txBody>
      </p:sp>
      <p:sp>
        <p:nvSpPr>
          <p:cNvPr id="11" name="Text 9"/>
          <p:cNvSpPr/>
          <p:nvPr/>
        </p:nvSpPr>
        <p:spPr>
          <a:xfrm>
            <a:off x="566928" y="6473952"/>
            <a:ext cx="8046720" cy="164592"/>
          </a:xfrm>
          <a:prstGeom prst="rect">
            <a:avLst/>
          </a:prstGeom>
          <a:noFill/>
          <a:ln/>
        </p:spPr>
        <p:txBody>
          <a:bodyPr wrap="square" lIns="0" tIns="0" rIns="0" bIns="0" rtlCol="0" anchor="ctr">
            <a:normAutofit/>
          </a:bodyPr>
          <a:lstStyle/>
          <a:p>
            <a:pPr indent="0" marL="0">
              <a:buNone/>
            </a:pPr>
            <a:r>
              <a:rPr lang="en-US" sz="750" dirty="0">
                <a:solidFill>
                  <a:srgbClr val="7A8294"/>
                </a:solidFill>
              </a:rPr>
              <a:t>Aleatoric/epistemic distinction and hallucination linkage: [9], [2]</a:t>
            </a:r>
            <a:endParaRPr lang="en-US" sz="750" dirty="0"/>
          </a:p>
        </p:txBody>
      </p:sp>
      <p:sp>
        <p:nvSpPr>
          <p:cNvPr id="12" name="Text 10"/>
          <p:cNvSpPr/>
          <p:nvPr/>
        </p:nvSpPr>
        <p:spPr>
          <a:xfrm>
            <a:off x="9326880" y="6473952"/>
            <a:ext cx="2286000" cy="164592"/>
          </a:xfrm>
          <a:prstGeom prst="rect">
            <a:avLst/>
          </a:prstGeom>
          <a:noFill/>
          <a:ln/>
        </p:spPr>
        <p:txBody>
          <a:bodyPr wrap="square" lIns="0" tIns="0" rIns="0" bIns="0" rtlCol="0" anchor="ctr">
            <a:normAutofit/>
          </a:bodyPr>
          <a:lstStyle/>
          <a:p>
            <a:pPr algn="r" indent="0" marL="0">
              <a:buNone/>
            </a:pPr>
            <a:r>
              <a:rPr lang="en-US" sz="750" dirty="0">
                <a:solidFill>
                  <a:srgbClr val="7A8294"/>
                </a:solidFill>
              </a:rPr>
              <a:t>LLM Uncertainty Metrics Survey</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530352" y="301752"/>
            <a:ext cx="502920" cy="256032"/>
          </a:xfrm>
          <a:prstGeom prst="rect">
            <a:avLst/>
          </a:prstGeom>
          <a:noFill/>
          <a:ln/>
        </p:spPr>
        <p:txBody>
          <a:bodyPr wrap="square" lIns="0" tIns="0" rIns="0" bIns="0" rtlCol="0" anchor="ctr"/>
          <a:lstStyle/>
          <a:p>
            <a:pPr indent="0" marL="0">
              <a:buNone/>
            </a:pPr>
            <a:r>
              <a:rPr lang="en-US" sz="1000" b="1" dirty="0">
                <a:solidFill>
                  <a:srgbClr val="3D63FF"/>
                </a:solidFill>
                <a:latin typeface="Aptos" pitchFamily="34" charset="0"/>
                <a:ea typeface="Aptos" pitchFamily="34" charset="-122"/>
                <a:cs typeface="Aptos" pitchFamily="34" charset="-120"/>
              </a:rPr>
              <a:t>04</a:t>
            </a:r>
            <a:endParaRPr lang="en-US" sz="1000" dirty="0"/>
          </a:p>
        </p:txBody>
      </p:sp>
      <p:sp>
        <p:nvSpPr>
          <p:cNvPr id="3" name="Text 1"/>
          <p:cNvSpPr/>
          <p:nvPr/>
        </p:nvSpPr>
        <p:spPr>
          <a:xfrm>
            <a:off x="1097280" y="228600"/>
            <a:ext cx="8778240" cy="457200"/>
          </a:xfrm>
          <a:prstGeom prst="rect">
            <a:avLst/>
          </a:prstGeom>
          <a:noFill/>
          <a:ln/>
        </p:spPr>
        <p:txBody>
          <a:bodyPr wrap="square" lIns="254" tIns="254" rIns="254" bIns="254" rtlCol="0" anchor="ctr">
            <a:normAutofit/>
          </a:bodyPr>
          <a:lstStyle/>
          <a:p>
            <a:pPr indent="0" marL="0">
              <a:buNone/>
            </a:pPr>
            <a:r>
              <a:rPr lang="en-US" sz="2800" b="1" dirty="0">
                <a:solidFill>
                  <a:srgbClr val="172033"/>
                </a:solidFill>
                <a:latin typeface="Aptos Display" pitchFamily="34" charset="0"/>
                <a:ea typeface="Aptos Display" pitchFamily="34" charset="-122"/>
                <a:cs typeface="Aptos Display" pitchFamily="34" charset="-120"/>
              </a:rPr>
              <a:t>Predictive entropy: token-probability baseline</a:t>
            </a:r>
            <a:endParaRPr lang="en-US" sz="2800" dirty="0"/>
          </a:p>
        </p:txBody>
      </p:sp>
      <p:sp>
        <p:nvSpPr>
          <p:cNvPr id="4" name="Text 2"/>
          <p:cNvSpPr/>
          <p:nvPr/>
        </p:nvSpPr>
        <p:spPr>
          <a:xfrm>
            <a:off x="1097280" y="694944"/>
            <a:ext cx="8961120" cy="292608"/>
          </a:xfrm>
          <a:prstGeom prst="rect">
            <a:avLst/>
          </a:prstGeom>
          <a:noFill/>
          <a:ln/>
        </p:spPr>
        <p:txBody>
          <a:bodyPr wrap="square" lIns="254" tIns="254" rIns="254" bIns="254" rtlCol="0" anchor="ctr">
            <a:normAutofit/>
          </a:bodyPr>
          <a:lstStyle/>
          <a:p>
            <a:pPr indent="0" marL="0">
              <a:buNone/>
            </a:pPr>
            <a:r>
              <a:rPr lang="en-US" sz="1250" dirty="0">
                <a:solidFill>
                  <a:srgbClr val="5D667A"/>
                </a:solidFill>
                <a:latin typeface="Aptos" pitchFamily="34" charset="0"/>
                <a:ea typeface="Aptos" pitchFamily="34" charset="-122"/>
                <a:cs typeface="Aptos" pitchFamily="34" charset="-120"/>
              </a:rPr>
              <a:t>A mathematically direct metric inherited from autoregressive generation</a:t>
            </a:r>
            <a:endParaRPr lang="en-US" sz="1250" dirty="0"/>
          </a:p>
        </p:txBody>
      </p:sp>
      <p:sp>
        <p:nvSpPr>
          <p:cNvPr id="5" name="Shape 3"/>
          <p:cNvSpPr/>
          <p:nvPr/>
        </p:nvSpPr>
        <p:spPr>
          <a:xfrm>
            <a:off x="530352" y="1060704"/>
            <a:ext cx="11155680" cy="0"/>
          </a:xfrm>
          <a:prstGeom prst="line">
            <a:avLst/>
          </a:prstGeom>
          <a:noFill/>
          <a:ln w="12700">
            <a:solidFill>
              <a:srgbClr val="D7DDEB"/>
            </a:solidFill>
            <a:prstDash val="solid"/>
          </a:ln>
        </p:spPr>
      </p:sp>
      <p:sp>
        <p:nvSpPr>
          <p:cNvPr id="6" name="Text 4"/>
          <p:cNvSpPr/>
          <p:nvPr/>
        </p:nvSpPr>
        <p:spPr>
          <a:xfrm>
            <a:off x="777240" y="1417320"/>
            <a:ext cx="4297680" cy="411480"/>
          </a:xfrm>
          <a:prstGeom prst="rect">
            <a:avLst/>
          </a:prstGeom>
          <a:solidFill>
            <a:srgbClr val="E8EDFF"/>
          </a:solidFill>
          <a:ln>
            <a:solidFill>
              <a:srgbClr val="FFFFFF">
                <a:alpha val="0"/>
              </a:srgbClr>
            </a:solidFill>
          </a:ln>
        </p:spPr>
        <p:txBody>
          <a:bodyPr wrap="square" lIns="1524" tIns="1524" rIns="1524" bIns="1524" rtlCol="0" anchor="ctr">
            <a:normAutofit/>
          </a:bodyPr>
          <a:lstStyle/>
          <a:p>
            <a:pPr algn="ctr" indent="0" marL="0">
              <a:buNone/>
            </a:pPr>
            <a:r>
              <a:rPr lang="en-US" sz="1800" b="1" dirty="0">
                <a:solidFill>
                  <a:srgbClr val="3D63FF"/>
                </a:solidFill>
                <a:latin typeface="Aptos" pitchFamily="34" charset="0"/>
                <a:ea typeface="Aptos" pitchFamily="34" charset="-122"/>
                <a:cs typeface="Aptos" pitchFamily="34" charset="-120"/>
              </a:rPr>
              <a:t>Autoregressive sequence probability</a:t>
            </a:r>
            <a:endParaRPr lang="en-US" sz="1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rcRect l="0" r="0" t="0" b="0"/>
          <a:stretch/>
        </p:blipFill>
        <p:spPr>
          <a:xfrm>
            <a:off x="685800" y="1920240"/>
            <a:ext cx="4617720" cy="804672"/>
          </a:xfrm>
          <a:prstGeom prst="rect">
            <a:avLst/>
          </a:prstGeom>
        </p:spPr>
      </p:pic>
      <p:sp>
        <p:nvSpPr>
          <p:cNvPr id="8" name="Text 5"/>
          <p:cNvSpPr/>
          <p:nvPr/>
        </p:nvSpPr>
        <p:spPr>
          <a:xfrm>
            <a:off x="6766560" y="1417320"/>
            <a:ext cx="4297680" cy="411480"/>
          </a:xfrm>
          <a:prstGeom prst="rect">
            <a:avLst/>
          </a:prstGeom>
          <a:solidFill>
            <a:srgbClr val="E8EDFF"/>
          </a:solidFill>
          <a:ln>
            <a:solidFill>
              <a:srgbClr val="FFFFFF">
                <a:alpha val="0"/>
              </a:srgbClr>
            </a:solidFill>
          </a:ln>
        </p:spPr>
        <p:txBody>
          <a:bodyPr wrap="square" lIns="1524" tIns="1524" rIns="1524" bIns="1524" rtlCol="0" anchor="ctr">
            <a:normAutofit/>
          </a:bodyPr>
          <a:lstStyle/>
          <a:p>
            <a:pPr algn="ctr" indent="0" marL="0">
              <a:buNone/>
            </a:pPr>
            <a:r>
              <a:rPr lang="en-US" sz="1800" b="1" dirty="0">
                <a:solidFill>
                  <a:srgbClr val="3D63FF"/>
                </a:solidFill>
                <a:latin typeface="Aptos" pitchFamily="34" charset="0"/>
                <a:ea typeface="Aptos" pitchFamily="34" charset="-122"/>
                <a:cs typeface="Aptos" pitchFamily="34" charset="-120"/>
              </a:rPr>
              <a:t>Monte Carlo predictive entropy</a:t>
            </a:r>
            <a:endParaRPr lang="en-US" sz="18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rcRect l="0" r="0" t="0" b="0"/>
          <a:stretch/>
        </p:blipFill>
        <p:spPr>
          <a:xfrm>
            <a:off x="6601968" y="1920240"/>
            <a:ext cx="4754880" cy="804672"/>
          </a:xfrm>
          <a:prstGeom prst="rect">
            <a:avLst/>
          </a:prstGeom>
        </p:spPr>
      </p:pic>
      <p:sp>
        <p:nvSpPr>
          <p:cNvPr id="10" name="Text 6"/>
          <p:cNvSpPr/>
          <p:nvPr/>
        </p:nvSpPr>
        <p:spPr>
          <a:xfrm>
            <a:off x="868680" y="3429000"/>
            <a:ext cx="1097280" cy="320040"/>
          </a:xfrm>
          <a:prstGeom prst="rect">
            <a:avLst/>
          </a:prstGeom>
          <a:noFill/>
          <a:ln/>
        </p:spPr>
        <p:txBody>
          <a:bodyPr wrap="square" lIns="0" tIns="0" rIns="0" bIns="0" rtlCol="0" anchor="ctr">
            <a:normAutofit/>
          </a:bodyPr>
          <a:lstStyle/>
          <a:p>
            <a:pPr indent="0" marL="0">
              <a:buNone/>
            </a:pPr>
            <a:r>
              <a:rPr lang="en-US" sz="2000" b="1" dirty="0">
                <a:solidFill>
                  <a:srgbClr val="172033"/>
                </a:solidFill>
                <a:latin typeface="Aptos" pitchFamily="34" charset="0"/>
                <a:ea typeface="Aptos" pitchFamily="34" charset="-122"/>
                <a:cs typeface="Aptos" pitchFamily="34" charset="-120"/>
              </a:rPr>
              <a:t>Pipeline</a:t>
            </a:r>
            <a:endParaRPr lang="en-US" sz="2000" dirty="0"/>
          </a:p>
        </p:txBody>
      </p:sp>
      <p:sp>
        <p:nvSpPr>
          <p:cNvPr id="11" name="Text 7"/>
          <p:cNvSpPr/>
          <p:nvPr/>
        </p:nvSpPr>
        <p:spPr>
          <a:xfrm>
            <a:off x="960120" y="4069080"/>
            <a:ext cx="1417320" cy="68580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700" dirty="0">
                <a:solidFill>
                  <a:srgbClr val="172033"/>
                </a:solidFill>
                <a:latin typeface="Aptos" pitchFamily="34" charset="0"/>
                <a:ea typeface="Aptos" pitchFamily="34" charset="-122"/>
                <a:cs typeface="Aptos" pitchFamily="34" charset="-120"/>
              </a:rPr>
              <a:t>Prompt</a:t>
            </a:r>
            <a:endParaRPr lang="en-US" sz="1700" dirty="0"/>
          </a:p>
          <a:p>
            <a:pPr algn="ctr" indent="0" marL="0">
              <a:buNone/>
            </a:pPr>
            <a:r>
              <a:rPr lang="en-US" sz="1700" dirty="0">
                <a:solidFill>
                  <a:srgbClr val="172033"/>
                </a:solidFill>
                <a:latin typeface="Aptos" pitchFamily="34" charset="0"/>
                <a:ea typeface="Aptos" pitchFamily="34" charset="-122"/>
                <a:cs typeface="Aptos" pitchFamily="34" charset="-120"/>
              </a:rPr>
              <a:t>(x)</a:t>
            </a:r>
            <a:endParaRPr lang="en-US" sz="1700" dirty="0"/>
          </a:p>
        </p:txBody>
      </p:sp>
      <p:sp>
        <p:nvSpPr>
          <p:cNvPr id="12" name="Text 8"/>
          <p:cNvSpPr/>
          <p:nvPr/>
        </p:nvSpPr>
        <p:spPr>
          <a:xfrm>
            <a:off x="2487168" y="4215384"/>
            <a:ext cx="411480" cy="320040"/>
          </a:xfrm>
          <a:prstGeom prst="rect">
            <a:avLst/>
          </a:prstGeom>
          <a:noFill/>
          <a:ln/>
        </p:spPr>
        <p:txBody>
          <a:bodyPr wrap="square" lIns="0" tIns="0" rIns="0" bIns="0" rtlCol="0" anchor="ctr">
            <a:normAutofit/>
          </a:bodyPr>
          <a:lstStyle/>
          <a:p>
            <a:pPr algn="ctr" indent="0" marL="0">
              <a:buNone/>
            </a:pPr>
            <a:r>
              <a:rPr lang="en-US" sz="2400" dirty="0">
                <a:solidFill>
                  <a:srgbClr val="5D667A"/>
                </a:solidFill>
                <a:latin typeface="Aptos" pitchFamily="34" charset="0"/>
                <a:ea typeface="Aptos" pitchFamily="34" charset="-122"/>
                <a:cs typeface="Aptos" pitchFamily="34" charset="-120"/>
              </a:rPr>
              <a:t>→</a:t>
            </a:r>
            <a:endParaRPr lang="en-US" sz="2400" dirty="0"/>
          </a:p>
        </p:txBody>
      </p:sp>
      <p:sp>
        <p:nvSpPr>
          <p:cNvPr id="13" name="Text 9"/>
          <p:cNvSpPr/>
          <p:nvPr/>
        </p:nvSpPr>
        <p:spPr>
          <a:xfrm>
            <a:off x="3017520" y="4069080"/>
            <a:ext cx="1783080" cy="68580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700" dirty="0">
                <a:solidFill>
                  <a:srgbClr val="172033"/>
                </a:solidFill>
                <a:latin typeface="Aptos" pitchFamily="34" charset="0"/>
                <a:ea typeface="Aptos" pitchFamily="34" charset="-122"/>
                <a:cs typeface="Aptos" pitchFamily="34" charset="-120"/>
              </a:rPr>
              <a:t>Token</a:t>
            </a:r>
            <a:endParaRPr lang="en-US" sz="1700" dirty="0"/>
          </a:p>
          <a:p>
            <a:pPr algn="ctr" indent="0" marL="0">
              <a:buNone/>
            </a:pPr>
            <a:r>
              <a:rPr lang="en-US" sz="1700" dirty="0">
                <a:solidFill>
                  <a:srgbClr val="172033"/>
                </a:solidFill>
                <a:latin typeface="Aptos" pitchFamily="34" charset="0"/>
                <a:ea typeface="Aptos" pitchFamily="34" charset="-122"/>
                <a:cs typeface="Aptos" pitchFamily="34" charset="-120"/>
              </a:rPr>
              <a:t>probabilities</a:t>
            </a:r>
            <a:endParaRPr lang="en-US" sz="1700" dirty="0"/>
          </a:p>
        </p:txBody>
      </p:sp>
      <p:sp>
        <p:nvSpPr>
          <p:cNvPr id="14" name="Text 10"/>
          <p:cNvSpPr/>
          <p:nvPr/>
        </p:nvSpPr>
        <p:spPr>
          <a:xfrm>
            <a:off x="4892040" y="4215384"/>
            <a:ext cx="411480" cy="320040"/>
          </a:xfrm>
          <a:prstGeom prst="rect">
            <a:avLst/>
          </a:prstGeom>
          <a:noFill/>
          <a:ln/>
        </p:spPr>
        <p:txBody>
          <a:bodyPr wrap="square" lIns="0" tIns="0" rIns="0" bIns="0" rtlCol="0" anchor="ctr">
            <a:normAutofit/>
          </a:bodyPr>
          <a:lstStyle/>
          <a:p>
            <a:pPr algn="ctr" indent="0" marL="0">
              <a:buNone/>
            </a:pPr>
            <a:r>
              <a:rPr lang="en-US" sz="2400" dirty="0">
                <a:solidFill>
                  <a:srgbClr val="5D667A"/>
                </a:solidFill>
                <a:latin typeface="Aptos" pitchFamily="34" charset="0"/>
                <a:ea typeface="Aptos" pitchFamily="34" charset="-122"/>
                <a:cs typeface="Aptos" pitchFamily="34" charset="-120"/>
              </a:rPr>
              <a:t>→</a:t>
            </a:r>
            <a:endParaRPr lang="en-US" sz="2400" dirty="0"/>
          </a:p>
        </p:txBody>
      </p:sp>
      <p:sp>
        <p:nvSpPr>
          <p:cNvPr id="15" name="Text 11"/>
          <p:cNvSpPr/>
          <p:nvPr/>
        </p:nvSpPr>
        <p:spPr>
          <a:xfrm>
            <a:off x="5413248" y="4069080"/>
            <a:ext cx="1783080" cy="68580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700" dirty="0">
                <a:solidFill>
                  <a:srgbClr val="172033"/>
                </a:solidFill>
                <a:latin typeface="Aptos" pitchFamily="34" charset="0"/>
                <a:ea typeface="Aptos" pitchFamily="34" charset="-122"/>
                <a:cs typeface="Aptos" pitchFamily="34" charset="-120"/>
              </a:rPr>
              <a:t>Sequence</a:t>
            </a:r>
            <a:endParaRPr lang="en-US" sz="1700" dirty="0"/>
          </a:p>
          <a:p>
            <a:pPr algn="ctr" indent="0" marL="0">
              <a:buNone/>
            </a:pPr>
            <a:r>
              <a:rPr lang="en-US" sz="1700" dirty="0">
                <a:solidFill>
                  <a:srgbClr val="172033"/>
                </a:solidFill>
                <a:latin typeface="Aptos" pitchFamily="34" charset="0"/>
                <a:ea typeface="Aptos" pitchFamily="34" charset="-122"/>
                <a:cs typeface="Aptos" pitchFamily="34" charset="-120"/>
              </a:rPr>
              <a:t>likelihood</a:t>
            </a:r>
            <a:endParaRPr lang="en-US" sz="1700" dirty="0"/>
          </a:p>
        </p:txBody>
      </p:sp>
      <p:sp>
        <p:nvSpPr>
          <p:cNvPr id="16" name="Text 12"/>
          <p:cNvSpPr/>
          <p:nvPr/>
        </p:nvSpPr>
        <p:spPr>
          <a:xfrm>
            <a:off x="7296912" y="4215384"/>
            <a:ext cx="411480" cy="320040"/>
          </a:xfrm>
          <a:prstGeom prst="rect">
            <a:avLst/>
          </a:prstGeom>
          <a:noFill/>
          <a:ln/>
        </p:spPr>
        <p:txBody>
          <a:bodyPr wrap="square" lIns="0" tIns="0" rIns="0" bIns="0" rtlCol="0" anchor="ctr">
            <a:normAutofit/>
          </a:bodyPr>
          <a:lstStyle/>
          <a:p>
            <a:pPr algn="ctr" indent="0" marL="0">
              <a:buNone/>
            </a:pPr>
            <a:r>
              <a:rPr lang="en-US" sz="2400" dirty="0">
                <a:solidFill>
                  <a:srgbClr val="5D667A"/>
                </a:solidFill>
                <a:latin typeface="Aptos" pitchFamily="34" charset="0"/>
                <a:ea typeface="Aptos" pitchFamily="34" charset="-122"/>
                <a:cs typeface="Aptos" pitchFamily="34" charset="-120"/>
              </a:rPr>
              <a:t>→</a:t>
            </a:r>
            <a:endParaRPr lang="en-US" sz="2400" dirty="0"/>
          </a:p>
        </p:txBody>
      </p:sp>
      <p:sp>
        <p:nvSpPr>
          <p:cNvPr id="17" name="Text 13"/>
          <p:cNvSpPr/>
          <p:nvPr/>
        </p:nvSpPr>
        <p:spPr>
          <a:xfrm>
            <a:off x="7818120" y="4069080"/>
            <a:ext cx="1783080" cy="685800"/>
          </a:xfrm>
          <a:prstGeom prst="rect">
            <a:avLst/>
          </a:prstGeom>
          <a:solidFill>
            <a:srgbClr val="FFF3D6"/>
          </a:solidFill>
          <a:ln>
            <a:solidFill>
              <a:srgbClr val="FFFFFF">
                <a:alpha val="0"/>
              </a:srgbClr>
            </a:solidFill>
          </a:ln>
        </p:spPr>
        <p:txBody>
          <a:bodyPr wrap="square" lIns="1524" tIns="1524" rIns="1524" bIns="1524" rtlCol="0" anchor="ctr">
            <a:normAutofit/>
          </a:bodyPr>
          <a:lstStyle/>
          <a:p>
            <a:pPr algn="ctr" indent="0" marL="0">
              <a:buNone/>
            </a:pPr>
            <a:r>
              <a:rPr lang="en-US" sz="1700" b="1" dirty="0">
                <a:solidFill>
                  <a:srgbClr val="F6A623"/>
                </a:solidFill>
                <a:latin typeface="Aptos" pitchFamily="34" charset="0"/>
                <a:ea typeface="Aptos" pitchFamily="34" charset="-122"/>
                <a:cs typeface="Aptos" pitchFamily="34" charset="-120"/>
              </a:rPr>
              <a:t>Entropy</a:t>
            </a:r>
            <a:endParaRPr lang="en-US" sz="1700" dirty="0"/>
          </a:p>
          <a:p>
            <a:pPr algn="ctr" indent="0" marL="0">
              <a:buNone/>
            </a:pPr>
            <a:r>
              <a:rPr lang="en-US" sz="1700" b="1" dirty="0">
                <a:solidFill>
                  <a:srgbClr val="F6A623"/>
                </a:solidFill>
                <a:latin typeface="Aptos" pitchFamily="34" charset="0"/>
                <a:ea typeface="Aptos" pitchFamily="34" charset="-122"/>
                <a:cs typeface="Aptos" pitchFamily="34" charset="-120"/>
              </a:rPr>
              <a:t>score</a:t>
            </a:r>
            <a:endParaRPr lang="en-US" sz="1700" dirty="0"/>
          </a:p>
        </p:txBody>
      </p:sp>
      <p:sp>
        <p:nvSpPr>
          <p:cNvPr id="18" name="Text 14"/>
          <p:cNvSpPr/>
          <p:nvPr/>
        </p:nvSpPr>
        <p:spPr>
          <a:xfrm>
            <a:off x="914400" y="5559552"/>
            <a:ext cx="10241280" cy="50292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800" dirty="0">
                <a:solidFill>
                  <a:srgbClr val="172033"/>
                </a:solidFill>
                <a:latin typeface="Aptos" pitchFamily="34" charset="0"/>
                <a:ea typeface="Aptos" pitchFamily="34" charset="-122"/>
                <a:cs typeface="Aptos" pitchFamily="34" charset="-120"/>
              </a:rPr>
              <a:t>Strength: simple, probabilistic, available when logits are accessible.</a:t>
            </a:r>
            <a:endParaRPr lang="en-US" sz="1800" dirty="0"/>
          </a:p>
          <a:p>
            <a:pPr algn="ctr" indent="0" marL="0">
              <a:buNone/>
            </a:pPr>
            <a:r>
              <a:rPr lang="en-US" sz="1800" dirty="0">
                <a:solidFill>
                  <a:srgbClr val="172033"/>
                </a:solidFill>
                <a:latin typeface="Aptos" pitchFamily="34" charset="0"/>
                <a:ea typeface="Aptos" pitchFamily="34" charset="-122"/>
                <a:cs typeface="Aptos" pitchFamily="34" charset="-120"/>
              </a:rPr>
              <a:t>Weakness: language meaning is not identical to token sequence identity.</a:t>
            </a:r>
            <a:endParaRPr lang="en-US" sz="1800" dirty="0"/>
          </a:p>
        </p:txBody>
      </p:sp>
      <p:sp>
        <p:nvSpPr>
          <p:cNvPr id="19" name="Text 15"/>
          <p:cNvSpPr/>
          <p:nvPr/>
        </p:nvSpPr>
        <p:spPr>
          <a:xfrm>
            <a:off x="566928" y="6473952"/>
            <a:ext cx="8046720" cy="164592"/>
          </a:xfrm>
          <a:prstGeom prst="rect">
            <a:avLst/>
          </a:prstGeom>
          <a:noFill/>
          <a:ln/>
        </p:spPr>
        <p:txBody>
          <a:bodyPr wrap="square" lIns="0" tIns="0" rIns="0" bIns="0" rtlCol="0" anchor="ctr">
            <a:normAutofit/>
          </a:bodyPr>
          <a:lstStyle/>
          <a:p>
            <a:pPr indent="0" marL="0">
              <a:buNone/>
            </a:pPr>
            <a:r>
              <a:rPr lang="en-US" sz="750" dirty="0">
                <a:solidFill>
                  <a:srgbClr val="7A8294"/>
                </a:solidFill>
              </a:rPr>
              <a:t>Autoregressive UQ and predictive entropy formulation: [5]</a:t>
            </a:r>
            <a:endParaRPr lang="en-US" sz="750" dirty="0"/>
          </a:p>
        </p:txBody>
      </p:sp>
      <p:sp>
        <p:nvSpPr>
          <p:cNvPr id="20" name="Text 16"/>
          <p:cNvSpPr/>
          <p:nvPr/>
        </p:nvSpPr>
        <p:spPr>
          <a:xfrm>
            <a:off x="9326880" y="6473952"/>
            <a:ext cx="2286000" cy="164592"/>
          </a:xfrm>
          <a:prstGeom prst="rect">
            <a:avLst/>
          </a:prstGeom>
          <a:noFill/>
          <a:ln/>
        </p:spPr>
        <p:txBody>
          <a:bodyPr wrap="square" lIns="0" tIns="0" rIns="0" bIns="0" rtlCol="0" anchor="ctr">
            <a:normAutofit/>
          </a:bodyPr>
          <a:lstStyle/>
          <a:p>
            <a:pPr algn="r" indent="0" marL="0">
              <a:buNone/>
            </a:pPr>
            <a:r>
              <a:rPr lang="en-US" sz="750" dirty="0">
                <a:solidFill>
                  <a:srgbClr val="7A8294"/>
                </a:solidFill>
              </a:rPr>
              <a:t>LLM Uncertainty Metrics Survey</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530352" y="301752"/>
            <a:ext cx="502920" cy="256032"/>
          </a:xfrm>
          <a:prstGeom prst="rect">
            <a:avLst/>
          </a:prstGeom>
          <a:noFill/>
          <a:ln/>
        </p:spPr>
        <p:txBody>
          <a:bodyPr wrap="square" lIns="0" tIns="0" rIns="0" bIns="0" rtlCol="0" anchor="ctr"/>
          <a:lstStyle/>
          <a:p>
            <a:pPr indent="0" marL="0">
              <a:buNone/>
            </a:pPr>
            <a:r>
              <a:rPr lang="en-US" sz="1000" b="1" dirty="0">
                <a:solidFill>
                  <a:srgbClr val="3D63FF"/>
                </a:solidFill>
                <a:latin typeface="Aptos" pitchFamily="34" charset="0"/>
                <a:ea typeface="Aptos" pitchFamily="34" charset="-122"/>
                <a:cs typeface="Aptos" pitchFamily="34" charset="-120"/>
              </a:rPr>
              <a:t>05</a:t>
            </a:r>
            <a:endParaRPr lang="en-US" sz="1000" dirty="0"/>
          </a:p>
        </p:txBody>
      </p:sp>
      <p:sp>
        <p:nvSpPr>
          <p:cNvPr id="3" name="Text 1"/>
          <p:cNvSpPr/>
          <p:nvPr/>
        </p:nvSpPr>
        <p:spPr>
          <a:xfrm>
            <a:off x="1097280" y="228600"/>
            <a:ext cx="8778240" cy="457200"/>
          </a:xfrm>
          <a:prstGeom prst="rect">
            <a:avLst/>
          </a:prstGeom>
          <a:noFill/>
          <a:ln/>
        </p:spPr>
        <p:txBody>
          <a:bodyPr wrap="square" lIns="254" tIns="254" rIns="254" bIns="254" rtlCol="0" anchor="ctr">
            <a:normAutofit/>
          </a:bodyPr>
          <a:lstStyle/>
          <a:p>
            <a:pPr indent="0" marL="0">
              <a:buNone/>
            </a:pPr>
            <a:r>
              <a:rPr lang="en-US" sz="2800" b="1" dirty="0">
                <a:solidFill>
                  <a:srgbClr val="172033"/>
                </a:solidFill>
                <a:latin typeface="Aptos Display" pitchFamily="34" charset="0"/>
                <a:ea typeface="Aptos Display" pitchFamily="34" charset="-122"/>
                <a:cs typeface="Aptos Display" pitchFamily="34" charset="-120"/>
              </a:rPr>
              <a:t>Limitation: probability dilution by paraphrase</a:t>
            </a:r>
            <a:endParaRPr lang="en-US" sz="2800" dirty="0"/>
          </a:p>
        </p:txBody>
      </p:sp>
      <p:sp>
        <p:nvSpPr>
          <p:cNvPr id="4" name="Text 2"/>
          <p:cNvSpPr/>
          <p:nvPr/>
        </p:nvSpPr>
        <p:spPr>
          <a:xfrm>
            <a:off x="1097280" y="694944"/>
            <a:ext cx="8961120" cy="292608"/>
          </a:xfrm>
          <a:prstGeom prst="rect">
            <a:avLst/>
          </a:prstGeom>
          <a:noFill/>
          <a:ln/>
        </p:spPr>
        <p:txBody>
          <a:bodyPr wrap="square" lIns="254" tIns="254" rIns="254" bIns="254" rtlCol="0" anchor="ctr">
            <a:normAutofit/>
          </a:bodyPr>
          <a:lstStyle/>
          <a:p>
            <a:pPr indent="0" marL="0">
              <a:buNone/>
            </a:pPr>
            <a:r>
              <a:rPr lang="en-US" sz="1250" dirty="0">
                <a:solidFill>
                  <a:srgbClr val="5D667A"/>
                </a:solidFill>
                <a:latin typeface="Aptos" pitchFamily="34" charset="0"/>
                <a:ea typeface="Aptos" pitchFamily="34" charset="-122"/>
                <a:cs typeface="Aptos" pitchFamily="34" charset="-120"/>
              </a:rPr>
              <a:t>Predictive entropy may confuse lexical diversity with semantic uncertainty</a:t>
            </a:r>
            <a:endParaRPr lang="en-US" sz="1250" dirty="0"/>
          </a:p>
        </p:txBody>
      </p:sp>
      <p:sp>
        <p:nvSpPr>
          <p:cNvPr id="5" name="Shape 3"/>
          <p:cNvSpPr/>
          <p:nvPr/>
        </p:nvSpPr>
        <p:spPr>
          <a:xfrm>
            <a:off x="530352" y="1060704"/>
            <a:ext cx="11155680" cy="0"/>
          </a:xfrm>
          <a:prstGeom prst="line">
            <a:avLst/>
          </a:prstGeom>
          <a:noFill/>
          <a:ln w="12700">
            <a:solidFill>
              <a:srgbClr val="D7DDEB"/>
            </a:solidFill>
            <a:prstDash val="solid"/>
          </a:ln>
        </p:spPr>
      </p:sp>
      <p:sp>
        <p:nvSpPr>
          <p:cNvPr id="6" name="Text 4"/>
          <p:cNvSpPr/>
          <p:nvPr/>
        </p:nvSpPr>
        <p:spPr>
          <a:xfrm>
            <a:off x="822960" y="1371600"/>
            <a:ext cx="3749040" cy="658368"/>
          </a:xfrm>
          <a:prstGeom prst="rect">
            <a:avLst/>
          </a:prstGeom>
          <a:solidFill>
            <a:srgbClr val="0E1726"/>
          </a:solidFill>
          <a:ln>
            <a:solidFill>
              <a:srgbClr val="0E1726"/>
            </a:solidFill>
          </a:ln>
        </p:spPr>
        <p:txBody>
          <a:bodyPr wrap="square" lIns="1524" tIns="1524" rIns="1524" bIns="1524"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Question</a:t>
            </a:r>
            <a:endParaRPr lang="en-US" sz="2000" dirty="0"/>
          </a:p>
          <a:p>
            <a:pPr algn="ctr" indent="0" marL="0">
              <a:buNone/>
            </a:pPr>
            <a:r>
              <a:rPr lang="en-US" sz="2000" b="1" dirty="0">
                <a:solidFill>
                  <a:srgbClr val="FFFFFF"/>
                </a:solidFill>
                <a:latin typeface="Aptos" pitchFamily="34" charset="0"/>
                <a:ea typeface="Aptos" pitchFamily="34" charset="-122"/>
                <a:cs typeface="Aptos" pitchFamily="34" charset="-120"/>
              </a:rPr>
              <a:t>“What is the capital of France?”</a:t>
            </a:r>
            <a:endParaRPr lang="en-US" sz="2000" dirty="0"/>
          </a:p>
        </p:txBody>
      </p:sp>
      <p:sp>
        <p:nvSpPr>
          <p:cNvPr id="7" name="Text 5"/>
          <p:cNvSpPr/>
          <p:nvPr/>
        </p:nvSpPr>
        <p:spPr>
          <a:xfrm>
            <a:off x="868680" y="2423160"/>
            <a:ext cx="2377440" cy="45720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800" dirty="0">
                <a:solidFill>
                  <a:srgbClr val="172033"/>
                </a:solidFill>
                <a:latin typeface="Aptos" pitchFamily="34" charset="0"/>
                <a:ea typeface="Aptos" pitchFamily="34" charset="-122"/>
                <a:cs typeface="Aptos" pitchFamily="34" charset="-120"/>
              </a:rPr>
              <a:t>“Paris.”</a:t>
            </a:r>
            <a:endParaRPr lang="en-US" sz="1800" dirty="0"/>
          </a:p>
        </p:txBody>
      </p:sp>
      <p:sp>
        <p:nvSpPr>
          <p:cNvPr id="8" name="Text 6"/>
          <p:cNvSpPr/>
          <p:nvPr/>
        </p:nvSpPr>
        <p:spPr>
          <a:xfrm>
            <a:off x="868680" y="3108960"/>
            <a:ext cx="2377440" cy="45720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800" dirty="0">
                <a:solidFill>
                  <a:srgbClr val="172033"/>
                </a:solidFill>
                <a:latin typeface="Aptos" pitchFamily="34" charset="0"/>
                <a:ea typeface="Aptos" pitchFamily="34" charset="-122"/>
                <a:cs typeface="Aptos" pitchFamily="34" charset="-120"/>
              </a:rPr>
              <a:t>“The capital is Paris.”</a:t>
            </a:r>
            <a:endParaRPr lang="en-US" sz="1800" dirty="0"/>
          </a:p>
        </p:txBody>
      </p:sp>
      <p:sp>
        <p:nvSpPr>
          <p:cNvPr id="9" name="Text 7"/>
          <p:cNvSpPr/>
          <p:nvPr/>
        </p:nvSpPr>
        <p:spPr>
          <a:xfrm>
            <a:off x="868680" y="3794760"/>
            <a:ext cx="2377440" cy="45720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800" dirty="0">
                <a:solidFill>
                  <a:srgbClr val="172033"/>
                </a:solidFill>
                <a:latin typeface="Aptos" pitchFamily="34" charset="0"/>
                <a:ea typeface="Aptos" pitchFamily="34" charset="-122"/>
                <a:cs typeface="Aptos" pitchFamily="34" charset="-120"/>
              </a:rPr>
              <a:t>“It is Paris.”</a:t>
            </a:r>
            <a:endParaRPr lang="en-US" sz="1800" dirty="0"/>
          </a:p>
        </p:txBody>
      </p:sp>
      <p:sp>
        <p:nvSpPr>
          <p:cNvPr id="10" name="Text 8"/>
          <p:cNvSpPr/>
          <p:nvPr/>
        </p:nvSpPr>
        <p:spPr>
          <a:xfrm>
            <a:off x="868680" y="4480560"/>
            <a:ext cx="2377440" cy="45720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800" dirty="0">
                <a:solidFill>
                  <a:srgbClr val="172033"/>
                </a:solidFill>
                <a:latin typeface="Aptos" pitchFamily="34" charset="0"/>
                <a:ea typeface="Aptos" pitchFamily="34" charset="-122"/>
                <a:cs typeface="Aptos" pitchFamily="34" charset="-120"/>
              </a:rPr>
              <a:t>“Paris is the capital.”</a:t>
            </a:r>
            <a:endParaRPr lang="en-US" sz="1800" dirty="0"/>
          </a:p>
        </p:txBody>
      </p:sp>
      <p:sp>
        <p:nvSpPr>
          <p:cNvPr id="11" name="Text 9"/>
          <p:cNvSpPr/>
          <p:nvPr/>
        </p:nvSpPr>
        <p:spPr>
          <a:xfrm>
            <a:off x="3547872" y="3273552"/>
            <a:ext cx="1097280" cy="694944"/>
          </a:xfrm>
          <a:prstGeom prst="rect">
            <a:avLst/>
          </a:prstGeom>
          <a:noFill/>
          <a:ln/>
        </p:spPr>
        <p:txBody>
          <a:bodyPr wrap="square" lIns="0" tIns="0" rIns="0" bIns="0" rtlCol="0" anchor="ctr">
            <a:normAutofit/>
          </a:bodyPr>
          <a:lstStyle/>
          <a:p>
            <a:pPr algn="ctr" indent="0" marL="0">
              <a:buNone/>
            </a:pPr>
            <a:r>
              <a:rPr lang="en-US" sz="1600" b="1" dirty="0">
                <a:solidFill>
                  <a:srgbClr val="D64B4B"/>
                </a:solidFill>
                <a:latin typeface="Aptos" pitchFamily="34" charset="0"/>
                <a:ea typeface="Aptos" pitchFamily="34" charset="-122"/>
                <a:cs typeface="Aptos" pitchFamily="34" charset="-120"/>
              </a:rPr>
              <a:t>different</a:t>
            </a:r>
            <a:endParaRPr lang="en-US" sz="1600" dirty="0"/>
          </a:p>
          <a:p>
            <a:pPr algn="ctr" indent="0" marL="0">
              <a:buNone/>
            </a:pPr>
            <a:r>
              <a:rPr lang="en-US" sz="1600" b="1" dirty="0">
                <a:solidFill>
                  <a:srgbClr val="D64B4B"/>
                </a:solidFill>
                <a:latin typeface="Aptos" pitchFamily="34" charset="0"/>
                <a:ea typeface="Aptos" pitchFamily="34" charset="-122"/>
                <a:cs typeface="Aptos" pitchFamily="34" charset="-120"/>
              </a:rPr>
              <a:t>token strings</a:t>
            </a:r>
            <a:endParaRPr lang="en-US" sz="1600" dirty="0"/>
          </a:p>
        </p:txBody>
      </p:sp>
      <p:sp>
        <p:nvSpPr>
          <p:cNvPr id="12" name="Text 10"/>
          <p:cNvSpPr/>
          <p:nvPr/>
        </p:nvSpPr>
        <p:spPr>
          <a:xfrm>
            <a:off x="4736592" y="3401568"/>
            <a:ext cx="502920" cy="365760"/>
          </a:xfrm>
          <a:prstGeom prst="rect">
            <a:avLst/>
          </a:prstGeom>
          <a:noFill/>
          <a:ln/>
        </p:spPr>
        <p:txBody>
          <a:bodyPr wrap="square" lIns="0" tIns="0" rIns="0" bIns="0" rtlCol="0" anchor="ctr">
            <a:normAutofit/>
          </a:bodyPr>
          <a:lstStyle/>
          <a:p>
            <a:pPr algn="ctr" indent="0" marL="0">
              <a:buNone/>
            </a:pPr>
            <a:r>
              <a:rPr lang="en-US" sz="2600" dirty="0">
                <a:solidFill>
                  <a:srgbClr val="5D667A"/>
                </a:solidFill>
                <a:latin typeface="Aptos" pitchFamily="34" charset="0"/>
                <a:ea typeface="Aptos" pitchFamily="34" charset="-122"/>
                <a:cs typeface="Aptos" pitchFamily="34" charset="-120"/>
              </a:rPr>
              <a:t>→</a:t>
            </a:r>
            <a:endParaRPr lang="en-US" sz="2600" dirty="0"/>
          </a:p>
        </p:txBody>
      </p:sp>
      <p:sp>
        <p:nvSpPr>
          <p:cNvPr id="13" name="Text 11"/>
          <p:cNvSpPr/>
          <p:nvPr/>
        </p:nvSpPr>
        <p:spPr>
          <a:xfrm>
            <a:off x="5413248" y="2999232"/>
            <a:ext cx="2560320" cy="960120"/>
          </a:xfrm>
          <a:prstGeom prst="rect">
            <a:avLst/>
          </a:prstGeom>
          <a:solidFill>
            <a:srgbClr val="E7F7F3"/>
          </a:solidFill>
          <a:ln>
            <a:solidFill>
              <a:srgbClr val="FFFFFF">
                <a:alpha val="0"/>
              </a:srgbClr>
            </a:solidFill>
          </a:ln>
        </p:spPr>
        <p:txBody>
          <a:bodyPr wrap="square" lIns="1524" tIns="1524" rIns="1524" bIns="1524" rtlCol="0" anchor="ctr">
            <a:normAutofit/>
          </a:bodyPr>
          <a:lstStyle/>
          <a:p>
            <a:pPr algn="ctr" indent="0" marL="0">
              <a:buNone/>
            </a:pPr>
            <a:r>
              <a:rPr lang="en-US" sz="2400" b="1" dirty="0">
                <a:solidFill>
                  <a:srgbClr val="00A78E"/>
                </a:solidFill>
                <a:latin typeface="Aptos" pitchFamily="34" charset="0"/>
                <a:ea typeface="Aptos" pitchFamily="34" charset="-122"/>
                <a:cs typeface="Aptos" pitchFamily="34" charset="-120"/>
              </a:rPr>
              <a:t>Same semantic fact</a:t>
            </a:r>
            <a:endParaRPr lang="en-US" sz="2400" dirty="0"/>
          </a:p>
          <a:p>
            <a:pPr algn="ctr" indent="0" marL="0">
              <a:buNone/>
            </a:pPr>
            <a:r>
              <a:rPr lang="en-US" sz="2400" b="1" dirty="0">
                <a:solidFill>
                  <a:srgbClr val="00A78E"/>
                </a:solidFill>
                <a:latin typeface="Aptos" pitchFamily="34" charset="0"/>
                <a:ea typeface="Aptos" pitchFamily="34" charset="-122"/>
                <a:cs typeface="Aptos" pitchFamily="34" charset="-120"/>
              </a:rPr>
              <a:t>PARIS</a:t>
            </a:r>
            <a:endParaRPr lang="en-US" sz="2400" dirty="0"/>
          </a:p>
        </p:txBody>
      </p:sp>
      <p:sp>
        <p:nvSpPr>
          <p:cNvPr id="14" name="Text 12"/>
          <p:cNvSpPr/>
          <p:nvPr/>
        </p:nvSpPr>
        <p:spPr>
          <a:xfrm>
            <a:off x="8074152" y="3127248"/>
            <a:ext cx="822960" cy="896112"/>
          </a:xfrm>
          <a:prstGeom prst="rect">
            <a:avLst/>
          </a:prstGeom>
          <a:noFill/>
          <a:ln/>
        </p:spPr>
        <p:txBody>
          <a:bodyPr wrap="square" lIns="0" tIns="0" rIns="0" bIns="0" rtlCol="0" anchor="ctr">
            <a:normAutofit/>
          </a:bodyPr>
          <a:lstStyle/>
          <a:p>
            <a:pPr algn="ctr" indent="0" marL="0">
              <a:buNone/>
            </a:pPr>
            <a:r>
              <a:rPr lang="en-US" sz="1600" b="1" dirty="0">
                <a:solidFill>
                  <a:srgbClr val="D64B4B"/>
                </a:solidFill>
                <a:latin typeface="Aptos" pitchFamily="34" charset="0"/>
                <a:ea typeface="Aptos" pitchFamily="34" charset="-122"/>
                <a:cs typeface="Aptos" pitchFamily="34" charset="-120"/>
              </a:rPr>
              <a:t>PE sees</a:t>
            </a:r>
            <a:endParaRPr lang="en-US" sz="1600" dirty="0"/>
          </a:p>
          <a:p>
            <a:pPr algn="ctr" indent="0" marL="0">
              <a:buNone/>
            </a:pPr>
            <a:r>
              <a:rPr lang="en-US" sz="1600" b="1" dirty="0">
                <a:solidFill>
                  <a:srgbClr val="D64B4B"/>
                </a:solidFill>
                <a:latin typeface="Aptos" pitchFamily="34" charset="0"/>
                <a:ea typeface="Aptos" pitchFamily="34" charset="-122"/>
                <a:cs typeface="Aptos" pitchFamily="34" charset="-120"/>
              </a:rPr>
              <a:t>separate</a:t>
            </a:r>
            <a:endParaRPr lang="en-US" sz="1600" dirty="0"/>
          </a:p>
          <a:p>
            <a:pPr algn="ctr" indent="0" marL="0">
              <a:buNone/>
            </a:pPr>
            <a:r>
              <a:rPr lang="en-US" sz="1600" b="1" dirty="0">
                <a:solidFill>
                  <a:srgbClr val="D64B4B"/>
                </a:solidFill>
                <a:latin typeface="Aptos" pitchFamily="34" charset="0"/>
                <a:ea typeface="Aptos" pitchFamily="34" charset="-122"/>
                <a:cs typeface="Aptos" pitchFamily="34" charset="-120"/>
              </a:rPr>
              <a:t>outcomes</a:t>
            </a:r>
            <a:endParaRPr lang="en-US" sz="1600" dirty="0"/>
          </a:p>
        </p:txBody>
      </p:sp>
      <p:sp>
        <p:nvSpPr>
          <p:cNvPr id="15" name="Text 13"/>
          <p:cNvSpPr/>
          <p:nvPr/>
        </p:nvSpPr>
        <p:spPr>
          <a:xfrm>
            <a:off x="9034272" y="2304288"/>
            <a:ext cx="2377440" cy="2084832"/>
          </a:xfrm>
          <a:prstGeom prst="rect">
            <a:avLst/>
          </a:prstGeom>
          <a:solidFill>
            <a:srgbClr val="FDECEC"/>
          </a:solidFill>
          <a:ln>
            <a:solidFill>
              <a:srgbClr val="FFFFFF">
                <a:alpha val="0"/>
              </a:srgbClr>
            </a:solidFill>
          </a:ln>
        </p:spPr>
        <p:txBody>
          <a:bodyPr wrap="square" lIns="1524" tIns="1524" rIns="1524" bIns="1524" rtlCol="0" anchor="ctr">
            <a:normAutofit/>
          </a:bodyPr>
          <a:lstStyle/>
          <a:p>
            <a:pPr algn="ctr" indent="0" marL="0">
              <a:buNone/>
            </a:pPr>
            <a:r>
              <a:rPr lang="en-US" sz="1700" b="1" dirty="0">
                <a:solidFill>
                  <a:srgbClr val="D64B4B"/>
                </a:solidFill>
                <a:latin typeface="Aptos" pitchFamily="34" charset="0"/>
                <a:ea typeface="Aptos" pitchFamily="34" charset="-122"/>
                <a:cs typeface="Aptos" pitchFamily="34" charset="-120"/>
              </a:rPr>
              <a:t>Consequence</a:t>
            </a:r>
            <a:endParaRPr lang="en-US" sz="1700" dirty="0"/>
          </a:p>
          <a:p>
            <a:pPr algn="ctr" indent="0" marL="0">
              <a:buNone/>
            </a:pPr>
            <a:r>
              <a:rPr lang="en-US" sz="1700" b="1" dirty="0">
                <a:solidFill>
                  <a:srgbClr val="D64B4B"/>
                </a:solidFill>
                <a:latin typeface="Aptos" pitchFamily="34" charset="0"/>
                <a:ea typeface="Aptos" pitchFamily="34" charset="-122"/>
                <a:cs typeface="Aptos" pitchFamily="34" charset="-120"/>
              </a:rPr>
              <a:t>Probability mass is split across surface forms → entropy can be high even when the model is semantically confident.</a:t>
            </a:r>
            <a:endParaRPr lang="en-US" sz="1700" dirty="0"/>
          </a:p>
        </p:txBody>
      </p:sp>
      <p:sp>
        <p:nvSpPr>
          <p:cNvPr id="16" name="Text 14"/>
          <p:cNvSpPr/>
          <p:nvPr/>
        </p:nvSpPr>
        <p:spPr>
          <a:xfrm>
            <a:off x="1143000" y="5596128"/>
            <a:ext cx="9875520" cy="50292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2000" b="1" dirty="0">
                <a:solidFill>
                  <a:srgbClr val="172033"/>
                </a:solidFill>
                <a:latin typeface="Aptos" pitchFamily="34" charset="0"/>
                <a:ea typeface="Aptos" pitchFamily="34" charset="-122"/>
                <a:cs typeface="Aptos" pitchFamily="34" charset="-120"/>
              </a:rPr>
              <a:t>Failure mode: uncertainty over wording is misread as uncertainty over truth.</a:t>
            </a:r>
            <a:endParaRPr lang="en-US" sz="2000" dirty="0"/>
          </a:p>
        </p:txBody>
      </p:sp>
      <p:sp>
        <p:nvSpPr>
          <p:cNvPr id="17" name="Text 15"/>
          <p:cNvSpPr/>
          <p:nvPr/>
        </p:nvSpPr>
        <p:spPr>
          <a:xfrm>
            <a:off x="566928" y="6473952"/>
            <a:ext cx="8046720" cy="164592"/>
          </a:xfrm>
          <a:prstGeom prst="rect">
            <a:avLst/>
          </a:prstGeom>
          <a:noFill/>
          <a:ln/>
        </p:spPr>
        <p:txBody>
          <a:bodyPr wrap="square" lIns="0" tIns="0" rIns="0" bIns="0" rtlCol="0" anchor="ctr">
            <a:normAutofit/>
          </a:bodyPr>
          <a:lstStyle/>
          <a:p>
            <a:pPr indent="0" marL="0">
              <a:buNone/>
            </a:pPr>
            <a:r>
              <a:rPr lang="en-US" sz="750" dirty="0">
                <a:solidFill>
                  <a:srgbClr val="7A8294"/>
                </a:solidFill>
              </a:rPr>
              <a:t>Probability dilution and linguistic invariance motivation: [4], [2], [6]</a:t>
            </a:r>
            <a:endParaRPr lang="en-US" sz="750" dirty="0"/>
          </a:p>
        </p:txBody>
      </p:sp>
      <p:sp>
        <p:nvSpPr>
          <p:cNvPr id="18" name="Text 16"/>
          <p:cNvSpPr/>
          <p:nvPr/>
        </p:nvSpPr>
        <p:spPr>
          <a:xfrm>
            <a:off x="9326880" y="6473952"/>
            <a:ext cx="2286000" cy="164592"/>
          </a:xfrm>
          <a:prstGeom prst="rect">
            <a:avLst/>
          </a:prstGeom>
          <a:noFill/>
          <a:ln/>
        </p:spPr>
        <p:txBody>
          <a:bodyPr wrap="square" lIns="0" tIns="0" rIns="0" bIns="0" rtlCol="0" anchor="ctr">
            <a:normAutofit/>
          </a:bodyPr>
          <a:lstStyle/>
          <a:p>
            <a:pPr algn="r" indent="0" marL="0">
              <a:buNone/>
            </a:pPr>
            <a:r>
              <a:rPr lang="en-US" sz="750" dirty="0">
                <a:solidFill>
                  <a:srgbClr val="7A8294"/>
                </a:solidFill>
              </a:rPr>
              <a:t>LLM Uncertainty Metrics Survey</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530352" y="301752"/>
            <a:ext cx="502920" cy="256032"/>
          </a:xfrm>
          <a:prstGeom prst="rect">
            <a:avLst/>
          </a:prstGeom>
          <a:noFill/>
          <a:ln/>
        </p:spPr>
        <p:txBody>
          <a:bodyPr wrap="square" lIns="0" tIns="0" rIns="0" bIns="0" rtlCol="0" anchor="ctr"/>
          <a:lstStyle/>
          <a:p>
            <a:pPr indent="0" marL="0">
              <a:buNone/>
            </a:pPr>
            <a:r>
              <a:rPr lang="en-US" sz="1000" b="1" dirty="0">
                <a:solidFill>
                  <a:srgbClr val="3D63FF"/>
                </a:solidFill>
                <a:latin typeface="Aptos" pitchFamily="34" charset="0"/>
                <a:ea typeface="Aptos" pitchFamily="34" charset="-122"/>
                <a:cs typeface="Aptos" pitchFamily="34" charset="-120"/>
              </a:rPr>
              <a:t>06</a:t>
            </a:r>
            <a:endParaRPr lang="en-US" sz="1000" dirty="0"/>
          </a:p>
        </p:txBody>
      </p:sp>
      <p:sp>
        <p:nvSpPr>
          <p:cNvPr id="3" name="Text 1"/>
          <p:cNvSpPr/>
          <p:nvPr/>
        </p:nvSpPr>
        <p:spPr>
          <a:xfrm>
            <a:off x="1097280" y="228600"/>
            <a:ext cx="8778240" cy="457200"/>
          </a:xfrm>
          <a:prstGeom prst="rect">
            <a:avLst/>
          </a:prstGeom>
          <a:noFill/>
          <a:ln/>
        </p:spPr>
        <p:txBody>
          <a:bodyPr wrap="square" lIns="254" tIns="254" rIns="254" bIns="254" rtlCol="0" anchor="ctr">
            <a:normAutofit/>
          </a:bodyPr>
          <a:lstStyle/>
          <a:p>
            <a:pPr indent="0" marL="0">
              <a:buNone/>
            </a:pPr>
            <a:r>
              <a:rPr lang="en-US" sz="2800" b="1" dirty="0">
                <a:solidFill>
                  <a:srgbClr val="172033"/>
                </a:solidFill>
                <a:latin typeface="Aptos Display" pitchFamily="34" charset="0"/>
                <a:ea typeface="Aptos Display" pitchFamily="34" charset="-122"/>
                <a:cs typeface="Aptos Display" pitchFamily="34" charset="-120"/>
              </a:rPr>
              <a:t>Semantic Entropy: entropy over meanings</a:t>
            </a:r>
            <a:endParaRPr lang="en-US" sz="2800" dirty="0"/>
          </a:p>
        </p:txBody>
      </p:sp>
      <p:sp>
        <p:nvSpPr>
          <p:cNvPr id="4" name="Text 2"/>
          <p:cNvSpPr/>
          <p:nvPr/>
        </p:nvSpPr>
        <p:spPr>
          <a:xfrm>
            <a:off x="1097280" y="694944"/>
            <a:ext cx="8961120" cy="292608"/>
          </a:xfrm>
          <a:prstGeom prst="rect">
            <a:avLst/>
          </a:prstGeom>
          <a:noFill/>
          <a:ln/>
        </p:spPr>
        <p:txBody>
          <a:bodyPr wrap="square" lIns="254" tIns="254" rIns="254" bIns="254" rtlCol="0" anchor="ctr">
            <a:normAutofit/>
          </a:bodyPr>
          <a:lstStyle/>
          <a:p>
            <a:pPr indent="0" marL="0">
              <a:buNone/>
            </a:pPr>
            <a:r>
              <a:rPr lang="en-US" sz="1250" dirty="0">
                <a:solidFill>
                  <a:srgbClr val="5D667A"/>
                </a:solidFill>
                <a:latin typeface="Aptos" pitchFamily="34" charset="0"/>
                <a:ea typeface="Aptos" pitchFamily="34" charset="-122"/>
                <a:cs typeface="Aptos" pitchFamily="34" charset="-120"/>
              </a:rPr>
              <a:t>The unit of uncertainty shifts from token strings to semantic equivalence classes</a:t>
            </a:r>
            <a:endParaRPr lang="en-US" sz="1250" dirty="0"/>
          </a:p>
        </p:txBody>
      </p:sp>
      <p:sp>
        <p:nvSpPr>
          <p:cNvPr id="5" name="Shape 3"/>
          <p:cNvSpPr/>
          <p:nvPr/>
        </p:nvSpPr>
        <p:spPr>
          <a:xfrm>
            <a:off x="530352" y="1060704"/>
            <a:ext cx="11155680" cy="0"/>
          </a:xfrm>
          <a:prstGeom prst="line">
            <a:avLst/>
          </a:prstGeom>
          <a:noFill/>
          <a:ln w="12700">
            <a:solidFill>
              <a:srgbClr val="D7DDEB"/>
            </a:solidFill>
            <a:prstDash val="solid"/>
          </a:ln>
        </p:spPr>
      </p:sp>
      <p:sp>
        <p:nvSpPr>
          <p:cNvPr id="6" name="Text 4"/>
          <p:cNvSpPr/>
          <p:nvPr/>
        </p:nvSpPr>
        <p:spPr>
          <a:xfrm>
            <a:off x="777240" y="1389888"/>
            <a:ext cx="2423160" cy="658368"/>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700" b="1" dirty="0">
                <a:solidFill>
                  <a:srgbClr val="172033"/>
                </a:solidFill>
                <a:latin typeface="Aptos" pitchFamily="34" charset="0"/>
                <a:ea typeface="Aptos" pitchFamily="34" charset="-122"/>
                <a:cs typeface="Aptos" pitchFamily="34" charset="-120"/>
              </a:rPr>
              <a:t>Step 1</a:t>
            </a:r>
            <a:endParaRPr lang="en-US" sz="1700" dirty="0"/>
          </a:p>
          <a:p>
            <a:pPr algn="ctr" indent="0" marL="0">
              <a:buNone/>
            </a:pPr>
            <a:r>
              <a:rPr lang="en-US" sz="1700" b="1" dirty="0">
                <a:solidFill>
                  <a:srgbClr val="172033"/>
                </a:solidFill>
                <a:latin typeface="Aptos" pitchFamily="34" charset="0"/>
                <a:ea typeface="Aptos" pitchFamily="34" charset="-122"/>
                <a:cs typeface="Aptos" pitchFamily="34" charset="-120"/>
              </a:rPr>
              <a:t>Sample multiple outputs</a:t>
            </a:r>
            <a:endParaRPr lang="en-US" sz="1700" dirty="0"/>
          </a:p>
        </p:txBody>
      </p:sp>
      <p:sp>
        <p:nvSpPr>
          <p:cNvPr id="7" name="Text 5"/>
          <p:cNvSpPr/>
          <p:nvPr/>
        </p:nvSpPr>
        <p:spPr>
          <a:xfrm>
            <a:off x="3310128" y="1527048"/>
            <a:ext cx="320040" cy="274320"/>
          </a:xfrm>
          <a:prstGeom prst="rect">
            <a:avLst/>
          </a:prstGeom>
          <a:noFill/>
          <a:ln/>
        </p:spPr>
        <p:txBody>
          <a:bodyPr wrap="square" lIns="0" tIns="0" rIns="0" bIns="0" rtlCol="0" anchor="ctr">
            <a:normAutofit/>
          </a:bodyPr>
          <a:lstStyle/>
          <a:p>
            <a:pPr algn="ctr" indent="0" marL="0">
              <a:buNone/>
            </a:pPr>
            <a:r>
              <a:rPr lang="en-US" sz="2300" dirty="0">
                <a:solidFill>
                  <a:srgbClr val="5D667A"/>
                </a:solidFill>
                <a:latin typeface="Aptos" pitchFamily="34" charset="0"/>
                <a:ea typeface="Aptos" pitchFamily="34" charset="-122"/>
                <a:cs typeface="Aptos" pitchFamily="34" charset="-120"/>
              </a:rPr>
              <a:t>→</a:t>
            </a:r>
            <a:endParaRPr lang="en-US" sz="2300" dirty="0"/>
          </a:p>
        </p:txBody>
      </p:sp>
      <p:sp>
        <p:nvSpPr>
          <p:cNvPr id="8" name="Text 6"/>
          <p:cNvSpPr/>
          <p:nvPr/>
        </p:nvSpPr>
        <p:spPr>
          <a:xfrm>
            <a:off x="3749040" y="1389888"/>
            <a:ext cx="2423160" cy="658368"/>
          </a:xfrm>
          <a:prstGeom prst="rect">
            <a:avLst/>
          </a:prstGeom>
          <a:solidFill>
            <a:srgbClr val="E7F7F3"/>
          </a:solidFill>
          <a:ln>
            <a:solidFill>
              <a:srgbClr val="FFFFFF">
                <a:alpha val="0"/>
              </a:srgbClr>
            </a:solidFill>
          </a:ln>
        </p:spPr>
        <p:txBody>
          <a:bodyPr wrap="square" lIns="1524" tIns="1524" rIns="1524" bIns="1524" rtlCol="0" anchor="ctr">
            <a:normAutofit/>
          </a:bodyPr>
          <a:lstStyle/>
          <a:p>
            <a:pPr algn="ctr" indent="0" marL="0">
              <a:buNone/>
            </a:pPr>
            <a:r>
              <a:rPr lang="en-US" sz="1700" b="1" dirty="0">
                <a:solidFill>
                  <a:srgbClr val="00A78E"/>
                </a:solidFill>
                <a:latin typeface="Aptos" pitchFamily="34" charset="0"/>
                <a:ea typeface="Aptos" pitchFamily="34" charset="-122"/>
                <a:cs typeface="Aptos" pitchFamily="34" charset="-120"/>
              </a:rPr>
              <a:t>Step 2</a:t>
            </a:r>
            <a:endParaRPr lang="en-US" sz="1700" dirty="0"/>
          </a:p>
          <a:p>
            <a:pPr algn="ctr" indent="0" marL="0">
              <a:buNone/>
            </a:pPr>
            <a:r>
              <a:rPr lang="en-US" sz="1700" b="1" dirty="0">
                <a:solidFill>
                  <a:srgbClr val="00A78E"/>
                </a:solidFill>
                <a:latin typeface="Aptos" pitchFamily="34" charset="0"/>
                <a:ea typeface="Aptos" pitchFamily="34" charset="-122"/>
                <a:cs typeface="Aptos" pitchFamily="34" charset="-120"/>
              </a:rPr>
              <a:t>Group by meaning</a:t>
            </a:r>
            <a:endParaRPr lang="en-US" sz="1700" dirty="0"/>
          </a:p>
        </p:txBody>
      </p:sp>
      <p:sp>
        <p:nvSpPr>
          <p:cNvPr id="9" name="Text 7"/>
          <p:cNvSpPr/>
          <p:nvPr/>
        </p:nvSpPr>
        <p:spPr>
          <a:xfrm>
            <a:off x="6291072" y="1527048"/>
            <a:ext cx="320040" cy="274320"/>
          </a:xfrm>
          <a:prstGeom prst="rect">
            <a:avLst/>
          </a:prstGeom>
          <a:noFill/>
          <a:ln/>
        </p:spPr>
        <p:txBody>
          <a:bodyPr wrap="square" lIns="0" tIns="0" rIns="0" bIns="0" rtlCol="0" anchor="ctr">
            <a:normAutofit/>
          </a:bodyPr>
          <a:lstStyle/>
          <a:p>
            <a:pPr algn="ctr" indent="0" marL="0">
              <a:buNone/>
            </a:pPr>
            <a:r>
              <a:rPr lang="en-US" sz="2300" dirty="0">
                <a:solidFill>
                  <a:srgbClr val="5D667A"/>
                </a:solidFill>
                <a:latin typeface="Aptos" pitchFamily="34" charset="0"/>
                <a:ea typeface="Aptos" pitchFamily="34" charset="-122"/>
                <a:cs typeface="Aptos" pitchFamily="34" charset="-120"/>
              </a:rPr>
              <a:t>→</a:t>
            </a:r>
            <a:endParaRPr lang="en-US" sz="2300" dirty="0"/>
          </a:p>
        </p:txBody>
      </p:sp>
      <p:sp>
        <p:nvSpPr>
          <p:cNvPr id="10" name="Text 8"/>
          <p:cNvSpPr/>
          <p:nvPr/>
        </p:nvSpPr>
        <p:spPr>
          <a:xfrm>
            <a:off x="6720840" y="1389888"/>
            <a:ext cx="2697480" cy="658368"/>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700" b="1" dirty="0">
                <a:solidFill>
                  <a:srgbClr val="172033"/>
                </a:solidFill>
                <a:latin typeface="Aptos" pitchFamily="34" charset="0"/>
                <a:ea typeface="Aptos" pitchFamily="34" charset="-122"/>
                <a:cs typeface="Aptos" pitchFamily="34" charset="-120"/>
              </a:rPr>
              <a:t>Step 3</a:t>
            </a:r>
            <a:endParaRPr lang="en-US" sz="1700" dirty="0"/>
          </a:p>
          <a:p>
            <a:pPr algn="ctr" indent="0" marL="0">
              <a:buNone/>
            </a:pPr>
            <a:r>
              <a:rPr lang="en-US" sz="1700" b="1" dirty="0">
                <a:solidFill>
                  <a:srgbClr val="172033"/>
                </a:solidFill>
                <a:latin typeface="Aptos" pitchFamily="34" charset="0"/>
                <a:ea typeface="Aptos" pitchFamily="34" charset="-122"/>
                <a:cs typeface="Aptos" pitchFamily="34" charset="-120"/>
              </a:rPr>
              <a:t>Compute cluster entropy</a:t>
            </a:r>
            <a:endParaRPr lang="en-US" sz="1700" dirty="0"/>
          </a:p>
        </p:txBody>
      </p:sp>
      <p:sp>
        <p:nvSpPr>
          <p:cNvPr id="11" name="Text 9"/>
          <p:cNvSpPr/>
          <p:nvPr/>
        </p:nvSpPr>
        <p:spPr>
          <a:xfrm>
            <a:off x="868680" y="2468880"/>
            <a:ext cx="3840480" cy="896112"/>
          </a:xfrm>
          <a:prstGeom prst="rect">
            <a:avLst/>
          </a:prstGeom>
          <a:solidFill>
            <a:srgbClr val="E7F7F3"/>
          </a:solidFill>
          <a:ln>
            <a:solidFill>
              <a:srgbClr val="FFFFFF">
                <a:alpha val="0"/>
              </a:srgbClr>
            </a:solidFill>
          </a:ln>
        </p:spPr>
        <p:txBody>
          <a:bodyPr wrap="square" lIns="1524" tIns="1524" rIns="1524" bIns="1524" rtlCol="0" anchor="ctr">
            <a:normAutofit/>
          </a:bodyPr>
          <a:lstStyle/>
          <a:p>
            <a:pPr algn="ctr" indent="0" marL="0">
              <a:buNone/>
            </a:pPr>
            <a:r>
              <a:rPr lang="en-US" sz="1750" b="1" dirty="0">
                <a:solidFill>
                  <a:srgbClr val="00A78E"/>
                </a:solidFill>
                <a:latin typeface="Aptos" pitchFamily="34" charset="0"/>
                <a:ea typeface="Aptos" pitchFamily="34" charset="-122"/>
                <a:cs typeface="Aptos" pitchFamily="34" charset="-120"/>
              </a:rPr>
              <a:t>Example cluster</a:t>
            </a:r>
            <a:endParaRPr lang="en-US" sz="1750" dirty="0"/>
          </a:p>
          <a:p>
            <a:pPr algn="ctr" indent="0" marL="0">
              <a:buNone/>
            </a:pPr>
            <a:r>
              <a:rPr lang="en-US" sz="1750" b="1" dirty="0">
                <a:solidFill>
                  <a:srgbClr val="00A78E"/>
                </a:solidFill>
                <a:latin typeface="Aptos" pitchFamily="34" charset="0"/>
                <a:ea typeface="Aptos" pitchFamily="34" charset="-122"/>
                <a:cs typeface="Aptos" pitchFamily="34" charset="-120"/>
              </a:rPr>
              <a:t>{“Paris”, “It is Paris”, “The capital is Paris”}</a:t>
            </a:r>
            <a:endParaRPr lang="en-US" sz="1750" dirty="0"/>
          </a:p>
        </p:txBody>
      </p:sp>
      <p:sp>
        <p:nvSpPr>
          <p:cNvPr id="12" name="Text 10"/>
          <p:cNvSpPr/>
          <p:nvPr/>
        </p:nvSpPr>
        <p:spPr>
          <a:xfrm>
            <a:off x="868680" y="3703320"/>
            <a:ext cx="3840480" cy="896112"/>
          </a:xfrm>
          <a:prstGeom prst="rect">
            <a:avLst/>
          </a:prstGeom>
          <a:solidFill>
            <a:srgbClr val="FDECEC"/>
          </a:solidFill>
          <a:ln>
            <a:solidFill>
              <a:srgbClr val="FFFFFF">
                <a:alpha val="0"/>
              </a:srgbClr>
            </a:solidFill>
          </a:ln>
        </p:spPr>
        <p:txBody>
          <a:bodyPr wrap="square" lIns="1524" tIns="1524" rIns="1524" bIns="1524" rtlCol="0" anchor="ctr">
            <a:normAutofit/>
          </a:bodyPr>
          <a:lstStyle/>
          <a:p>
            <a:pPr algn="ctr" indent="0" marL="0">
              <a:buNone/>
            </a:pPr>
            <a:r>
              <a:rPr lang="en-US" sz="1750" b="1" dirty="0">
                <a:solidFill>
                  <a:srgbClr val="D64B4B"/>
                </a:solidFill>
                <a:latin typeface="Aptos" pitchFamily="34" charset="0"/>
                <a:ea typeface="Aptos" pitchFamily="34" charset="-122"/>
                <a:cs typeface="Aptos" pitchFamily="34" charset="-120"/>
              </a:rPr>
              <a:t>Conflicting clusters</a:t>
            </a:r>
            <a:endParaRPr lang="en-US" sz="1750" dirty="0"/>
          </a:p>
          <a:p>
            <a:pPr algn="ctr" indent="0" marL="0">
              <a:buNone/>
            </a:pPr>
            <a:r>
              <a:rPr lang="en-US" sz="1750" b="1" dirty="0">
                <a:solidFill>
                  <a:srgbClr val="D64B4B"/>
                </a:solidFill>
                <a:latin typeface="Aptos" pitchFamily="34" charset="0"/>
                <a:ea typeface="Aptos" pitchFamily="34" charset="-122"/>
                <a:cs typeface="Aptos" pitchFamily="34" charset="-120"/>
              </a:rPr>
              <a:t>{“Lyon”}, {“Marseille”}, {“Paris”}</a:t>
            </a:r>
            <a:endParaRPr lang="en-US" sz="17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rcRect l="0" r="0" t="0" b="0"/>
          <a:stretch/>
        </p:blipFill>
        <p:spPr>
          <a:xfrm>
            <a:off x="5989320" y="2240280"/>
            <a:ext cx="4297680" cy="731520"/>
          </a:xfrm>
          <a:prstGeom prst="rect">
            <a:avLst/>
          </a:prstGeom>
        </p:spPr>
      </p:pic>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rcRect l="0" r="0" t="0" b="0"/>
          <a:stretch/>
        </p:blipFill>
        <p:spPr>
          <a:xfrm>
            <a:off x="5623560" y="3246120"/>
            <a:ext cx="4983480" cy="804672"/>
          </a:xfrm>
          <a:prstGeom prst="rect">
            <a:avLst/>
          </a:prstGeom>
        </p:spPr>
      </p:pic>
      <p:sp>
        <p:nvSpPr>
          <p:cNvPr id="15" name="Text 11"/>
          <p:cNvSpPr/>
          <p:nvPr/>
        </p:nvSpPr>
        <p:spPr>
          <a:xfrm>
            <a:off x="5669280" y="4480560"/>
            <a:ext cx="4937760" cy="1005840"/>
          </a:xfrm>
          <a:prstGeom prst="rect">
            <a:avLst/>
          </a:prstGeom>
          <a:solidFill>
            <a:srgbClr val="FFFFFF"/>
          </a:solidFill>
          <a:ln>
            <a:solidFill>
              <a:srgbClr val="D7DDEB"/>
            </a:solidFill>
          </a:ln>
        </p:spPr>
        <p:txBody>
          <a:bodyPr wrap="square" lIns="1524" tIns="1524" rIns="1524" bIns="1524" rtlCol="0" anchor="ctr">
            <a:normAutofit/>
          </a:bodyPr>
          <a:lstStyle/>
          <a:p>
            <a:pPr indent="0" marL="0">
              <a:buNone/>
            </a:pPr>
            <a:r>
              <a:rPr lang="en-US" sz="1750" dirty="0">
                <a:solidFill>
                  <a:srgbClr val="172033"/>
                </a:solidFill>
                <a:latin typeface="Aptos" pitchFamily="34" charset="0"/>
                <a:ea typeface="Aptos" pitchFamily="34" charset="-122"/>
                <a:cs typeface="Aptos" pitchFamily="34" charset="-120"/>
              </a:rPr>
              <a:t>Interpretation</a:t>
            </a:r>
            <a:endParaRPr lang="en-US" sz="1750" dirty="0"/>
          </a:p>
          <a:p>
            <a:pPr indent="0" marL="0">
              <a:buNone/>
            </a:pPr>
            <a:r>
              <a:rPr lang="en-US" sz="1750" dirty="0">
                <a:solidFill>
                  <a:srgbClr val="172033"/>
                </a:solidFill>
                <a:latin typeface="Aptos" pitchFamily="34" charset="0"/>
                <a:ea typeface="Aptos" pitchFamily="34" charset="-122"/>
                <a:cs typeface="Aptos" pitchFamily="34" charset="-120"/>
              </a:rPr>
              <a:t>Low SE: sampled answers converge on one meaning.</a:t>
            </a:r>
            <a:endParaRPr lang="en-US" sz="1750" dirty="0"/>
          </a:p>
          <a:p>
            <a:pPr indent="0" marL="0">
              <a:buNone/>
            </a:pPr>
            <a:r>
              <a:rPr lang="en-US" sz="1750" dirty="0">
                <a:solidFill>
                  <a:srgbClr val="172033"/>
                </a:solidFill>
                <a:latin typeface="Aptos" pitchFamily="34" charset="0"/>
                <a:ea typeface="Aptos" pitchFamily="34" charset="-122"/>
                <a:cs typeface="Aptos" pitchFamily="34" charset="-120"/>
              </a:rPr>
              <a:t>High SE: sampled answers distribute across incompatible meanings.</a:t>
            </a:r>
            <a:endParaRPr lang="en-US" sz="1750" dirty="0"/>
          </a:p>
        </p:txBody>
      </p:sp>
      <p:sp>
        <p:nvSpPr>
          <p:cNvPr id="16" name="Text 12"/>
          <p:cNvSpPr/>
          <p:nvPr/>
        </p:nvSpPr>
        <p:spPr>
          <a:xfrm>
            <a:off x="566928" y="6473952"/>
            <a:ext cx="8046720" cy="164592"/>
          </a:xfrm>
          <a:prstGeom prst="rect">
            <a:avLst/>
          </a:prstGeom>
          <a:noFill/>
          <a:ln/>
        </p:spPr>
        <p:txBody>
          <a:bodyPr wrap="square" lIns="0" tIns="0" rIns="0" bIns="0" rtlCol="0" anchor="ctr">
            <a:normAutofit/>
          </a:bodyPr>
          <a:lstStyle/>
          <a:p>
            <a:pPr indent="0" marL="0">
              <a:buNone/>
            </a:pPr>
            <a:r>
              <a:rPr lang="en-US" sz="750" dirty="0">
                <a:solidFill>
                  <a:srgbClr val="7A8294"/>
                </a:solidFill>
              </a:rPr>
              <a:t>Semantic Entropy formulation and semantic equivalence classes: [4], [2]</a:t>
            </a:r>
            <a:endParaRPr lang="en-US" sz="750" dirty="0"/>
          </a:p>
        </p:txBody>
      </p:sp>
      <p:sp>
        <p:nvSpPr>
          <p:cNvPr id="17" name="Text 13"/>
          <p:cNvSpPr/>
          <p:nvPr/>
        </p:nvSpPr>
        <p:spPr>
          <a:xfrm>
            <a:off x="9326880" y="6473952"/>
            <a:ext cx="2286000" cy="164592"/>
          </a:xfrm>
          <a:prstGeom prst="rect">
            <a:avLst/>
          </a:prstGeom>
          <a:noFill/>
          <a:ln/>
        </p:spPr>
        <p:txBody>
          <a:bodyPr wrap="square" lIns="0" tIns="0" rIns="0" bIns="0" rtlCol="0" anchor="ctr">
            <a:normAutofit/>
          </a:bodyPr>
          <a:lstStyle/>
          <a:p>
            <a:pPr algn="r" indent="0" marL="0">
              <a:buNone/>
            </a:pPr>
            <a:r>
              <a:rPr lang="en-US" sz="750" dirty="0">
                <a:solidFill>
                  <a:srgbClr val="7A8294"/>
                </a:solidFill>
              </a:rPr>
              <a:t>LLM Uncertainty Metrics Survey</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530352" y="301752"/>
            <a:ext cx="502920" cy="256032"/>
          </a:xfrm>
          <a:prstGeom prst="rect">
            <a:avLst/>
          </a:prstGeom>
          <a:noFill/>
          <a:ln/>
        </p:spPr>
        <p:txBody>
          <a:bodyPr wrap="square" lIns="0" tIns="0" rIns="0" bIns="0" rtlCol="0" anchor="ctr"/>
          <a:lstStyle/>
          <a:p>
            <a:pPr indent="0" marL="0">
              <a:buNone/>
            </a:pPr>
            <a:r>
              <a:rPr lang="en-US" sz="1000" b="1" dirty="0">
                <a:solidFill>
                  <a:srgbClr val="3D63FF"/>
                </a:solidFill>
                <a:latin typeface="Aptos" pitchFamily="34" charset="0"/>
                <a:ea typeface="Aptos" pitchFamily="34" charset="-122"/>
                <a:cs typeface="Aptos" pitchFamily="34" charset="-120"/>
              </a:rPr>
              <a:t>07</a:t>
            </a:r>
            <a:endParaRPr lang="en-US" sz="1000" dirty="0"/>
          </a:p>
        </p:txBody>
      </p:sp>
      <p:sp>
        <p:nvSpPr>
          <p:cNvPr id="3" name="Text 1"/>
          <p:cNvSpPr/>
          <p:nvPr/>
        </p:nvSpPr>
        <p:spPr>
          <a:xfrm>
            <a:off x="1097280" y="228600"/>
            <a:ext cx="8778240" cy="457200"/>
          </a:xfrm>
          <a:prstGeom prst="rect">
            <a:avLst/>
          </a:prstGeom>
          <a:noFill/>
          <a:ln/>
        </p:spPr>
        <p:txBody>
          <a:bodyPr wrap="square" lIns="254" tIns="254" rIns="254" bIns="254" rtlCol="0" anchor="ctr">
            <a:normAutofit/>
          </a:bodyPr>
          <a:lstStyle/>
          <a:p>
            <a:pPr indent="0" marL="0">
              <a:buNone/>
            </a:pPr>
            <a:r>
              <a:rPr lang="en-US" sz="2800" b="1" dirty="0">
                <a:solidFill>
                  <a:srgbClr val="172033"/>
                </a:solidFill>
                <a:latin typeface="Aptos Display" pitchFamily="34" charset="0"/>
                <a:ea typeface="Aptos Display" pitchFamily="34" charset="-122"/>
                <a:cs typeface="Aptos Display" pitchFamily="34" charset="-120"/>
              </a:rPr>
              <a:t>How semantic clustering is constructed</a:t>
            </a:r>
            <a:endParaRPr lang="en-US" sz="2800" dirty="0"/>
          </a:p>
        </p:txBody>
      </p:sp>
      <p:sp>
        <p:nvSpPr>
          <p:cNvPr id="4" name="Text 2"/>
          <p:cNvSpPr/>
          <p:nvPr/>
        </p:nvSpPr>
        <p:spPr>
          <a:xfrm>
            <a:off x="1097280" y="694944"/>
            <a:ext cx="8961120" cy="292608"/>
          </a:xfrm>
          <a:prstGeom prst="rect">
            <a:avLst/>
          </a:prstGeom>
          <a:noFill/>
          <a:ln/>
        </p:spPr>
        <p:txBody>
          <a:bodyPr wrap="square" lIns="254" tIns="254" rIns="254" bIns="254" rtlCol="0" anchor="ctr">
            <a:normAutofit/>
          </a:bodyPr>
          <a:lstStyle/>
          <a:p>
            <a:pPr indent="0" marL="0">
              <a:buNone/>
            </a:pPr>
            <a:r>
              <a:rPr lang="en-US" sz="1250" dirty="0">
                <a:solidFill>
                  <a:srgbClr val="5D667A"/>
                </a:solidFill>
                <a:latin typeface="Aptos" pitchFamily="34" charset="0"/>
                <a:ea typeface="Aptos" pitchFamily="34" charset="-122"/>
                <a:cs typeface="Aptos" pitchFamily="34" charset="-120"/>
              </a:rPr>
              <a:t>Bidirectional entailment approximates semantic equivalence</a:t>
            </a:r>
            <a:endParaRPr lang="en-US" sz="1250" dirty="0"/>
          </a:p>
        </p:txBody>
      </p:sp>
      <p:sp>
        <p:nvSpPr>
          <p:cNvPr id="5" name="Shape 3"/>
          <p:cNvSpPr/>
          <p:nvPr/>
        </p:nvSpPr>
        <p:spPr>
          <a:xfrm>
            <a:off x="530352" y="1060704"/>
            <a:ext cx="11155680" cy="0"/>
          </a:xfrm>
          <a:prstGeom prst="line">
            <a:avLst/>
          </a:prstGeom>
          <a:noFill/>
          <a:ln w="12700">
            <a:solidFill>
              <a:srgbClr val="D7DDEB"/>
            </a:solidFill>
            <a:prstDash val="solid"/>
          </a:ln>
        </p:spPr>
      </p:sp>
      <p:sp>
        <p:nvSpPr>
          <p:cNvPr id="6" name="Text 4"/>
          <p:cNvSpPr/>
          <p:nvPr/>
        </p:nvSpPr>
        <p:spPr>
          <a:xfrm>
            <a:off x="868680" y="1444752"/>
            <a:ext cx="3794760" cy="73152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800" dirty="0">
                <a:solidFill>
                  <a:srgbClr val="172033"/>
                </a:solidFill>
                <a:latin typeface="Aptos" pitchFamily="34" charset="0"/>
                <a:ea typeface="Aptos" pitchFamily="34" charset="-122"/>
                <a:cs typeface="Aptos" pitchFamily="34" charset="-120"/>
              </a:rPr>
              <a:t>Sample A</a:t>
            </a:r>
            <a:endParaRPr lang="en-US" sz="1800" dirty="0"/>
          </a:p>
          <a:p>
            <a:pPr algn="ctr" indent="0" marL="0">
              <a:buNone/>
            </a:pPr>
            <a:r>
              <a:rPr lang="en-US" sz="1800" dirty="0">
                <a:solidFill>
                  <a:srgbClr val="172033"/>
                </a:solidFill>
                <a:latin typeface="Aptos" pitchFamily="34" charset="0"/>
                <a:ea typeface="Aptos" pitchFamily="34" charset="-122"/>
                <a:cs typeface="Aptos" pitchFamily="34" charset="-120"/>
              </a:rPr>
              <a:t>“Paris is the capital of France.”</a:t>
            </a:r>
            <a:endParaRPr lang="en-US" sz="1800" dirty="0"/>
          </a:p>
        </p:txBody>
      </p:sp>
      <p:sp>
        <p:nvSpPr>
          <p:cNvPr id="7" name="Text 5"/>
          <p:cNvSpPr/>
          <p:nvPr/>
        </p:nvSpPr>
        <p:spPr>
          <a:xfrm>
            <a:off x="7406640" y="1444752"/>
            <a:ext cx="3794760" cy="73152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800" dirty="0">
                <a:solidFill>
                  <a:srgbClr val="172033"/>
                </a:solidFill>
                <a:latin typeface="Aptos" pitchFamily="34" charset="0"/>
                <a:ea typeface="Aptos" pitchFamily="34" charset="-122"/>
                <a:cs typeface="Aptos" pitchFamily="34" charset="-120"/>
              </a:rPr>
              <a:t>Sample B</a:t>
            </a:r>
            <a:endParaRPr lang="en-US" sz="1800" dirty="0"/>
          </a:p>
          <a:p>
            <a:pPr algn="ctr" indent="0" marL="0">
              <a:buNone/>
            </a:pPr>
            <a:r>
              <a:rPr lang="en-US" sz="1800" dirty="0">
                <a:solidFill>
                  <a:srgbClr val="172033"/>
                </a:solidFill>
                <a:latin typeface="Aptos" pitchFamily="34" charset="0"/>
                <a:ea typeface="Aptos" pitchFamily="34" charset="-122"/>
                <a:cs typeface="Aptos" pitchFamily="34" charset="-120"/>
              </a:rPr>
              <a:t>“The French capital is Paris.”</a:t>
            </a:r>
            <a:endParaRPr lang="en-US" sz="1800" dirty="0"/>
          </a:p>
        </p:txBody>
      </p:sp>
      <p:sp>
        <p:nvSpPr>
          <p:cNvPr id="8" name="Text 6"/>
          <p:cNvSpPr/>
          <p:nvPr/>
        </p:nvSpPr>
        <p:spPr>
          <a:xfrm>
            <a:off x="4864608" y="1417320"/>
            <a:ext cx="2148840" cy="292608"/>
          </a:xfrm>
          <a:prstGeom prst="rect">
            <a:avLst/>
          </a:prstGeom>
          <a:noFill/>
          <a:ln/>
        </p:spPr>
        <p:txBody>
          <a:bodyPr wrap="square" lIns="0" tIns="0" rIns="0" bIns="0" rtlCol="0" anchor="ctr">
            <a:normAutofit/>
          </a:bodyPr>
          <a:lstStyle/>
          <a:p>
            <a:pPr algn="ctr" indent="0" marL="0">
              <a:buNone/>
            </a:pPr>
            <a:r>
              <a:rPr lang="en-US" sz="1600" b="1" dirty="0">
                <a:solidFill>
                  <a:srgbClr val="3D63FF"/>
                </a:solidFill>
                <a:latin typeface="Aptos" pitchFamily="34" charset="0"/>
                <a:ea typeface="Aptos" pitchFamily="34" charset="-122"/>
                <a:cs typeface="Aptos" pitchFamily="34" charset="-120"/>
              </a:rPr>
              <a:t>A entails B</a:t>
            </a:r>
            <a:endParaRPr lang="en-US" sz="1600" dirty="0"/>
          </a:p>
        </p:txBody>
      </p:sp>
      <p:sp>
        <p:nvSpPr>
          <p:cNvPr id="9" name="Text 7"/>
          <p:cNvSpPr/>
          <p:nvPr/>
        </p:nvSpPr>
        <p:spPr>
          <a:xfrm>
            <a:off x="4800600" y="1737360"/>
            <a:ext cx="2286000" cy="320040"/>
          </a:xfrm>
          <a:prstGeom prst="rect">
            <a:avLst/>
          </a:prstGeom>
          <a:noFill/>
          <a:ln/>
        </p:spPr>
        <p:txBody>
          <a:bodyPr wrap="square" lIns="0" tIns="0" rIns="0" bIns="0" rtlCol="0" anchor="ctr">
            <a:normAutofit/>
          </a:bodyPr>
          <a:lstStyle/>
          <a:p>
            <a:pPr algn="ctr" indent="0" marL="0">
              <a:buNone/>
            </a:pPr>
            <a:r>
              <a:rPr lang="en-US" sz="2200" dirty="0">
                <a:solidFill>
                  <a:srgbClr val="00A78E"/>
                </a:solidFill>
                <a:latin typeface="Aptos" pitchFamily="34" charset="0"/>
                <a:ea typeface="Aptos" pitchFamily="34" charset="-122"/>
                <a:cs typeface="Aptos" pitchFamily="34" charset="-120"/>
              </a:rPr>
              <a:t>←──────→</a:t>
            </a:r>
            <a:endParaRPr lang="en-US" sz="2200" dirty="0"/>
          </a:p>
        </p:txBody>
      </p:sp>
      <p:sp>
        <p:nvSpPr>
          <p:cNvPr id="10" name="Text 8"/>
          <p:cNvSpPr/>
          <p:nvPr/>
        </p:nvSpPr>
        <p:spPr>
          <a:xfrm>
            <a:off x="4864608" y="2084832"/>
            <a:ext cx="2148840" cy="292608"/>
          </a:xfrm>
          <a:prstGeom prst="rect">
            <a:avLst/>
          </a:prstGeom>
          <a:noFill/>
          <a:ln/>
        </p:spPr>
        <p:txBody>
          <a:bodyPr wrap="square" lIns="0" tIns="0" rIns="0" bIns="0" rtlCol="0" anchor="ctr">
            <a:normAutofit/>
          </a:bodyPr>
          <a:lstStyle/>
          <a:p>
            <a:pPr algn="ctr" indent="0" marL="0">
              <a:buNone/>
            </a:pPr>
            <a:r>
              <a:rPr lang="en-US" sz="1600" b="1" dirty="0">
                <a:solidFill>
                  <a:srgbClr val="3D63FF"/>
                </a:solidFill>
                <a:latin typeface="Aptos" pitchFamily="34" charset="0"/>
                <a:ea typeface="Aptos" pitchFamily="34" charset="-122"/>
                <a:cs typeface="Aptos" pitchFamily="34" charset="-120"/>
              </a:rPr>
              <a:t>B entails A</a:t>
            </a:r>
            <a:endParaRPr lang="en-US" sz="1600" dirty="0"/>
          </a:p>
        </p:txBody>
      </p:sp>
      <p:sp>
        <p:nvSpPr>
          <p:cNvPr id="11" name="Text 9"/>
          <p:cNvSpPr/>
          <p:nvPr/>
        </p:nvSpPr>
        <p:spPr>
          <a:xfrm>
            <a:off x="4279392" y="2743200"/>
            <a:ext cx="2926080" cy="768096"/>
          </a:xfrm>
          <a:prstGeom prst="rect">
            <a:avLst/>
          </a:prstGeom>
          <a:solidFill>
            <a:srgbClr val="E7F7F3"/>
          </a:solidFill>
          <a:ln>
            <a:solidFill>
              <a:srgbClr val="FFFFFF">
                <a:alpha val="0"/>
              </a:srgbClr>
            </a:solidFill>
          </a:ln>
        </p:spPr>
        <p:txBody>
          <a:bodyPr wrap="square" lIns="1524" tIns="1524" rIns="1524" bIns="1524" rtlCol="0" anchor="ctr">
            <a:normAutofit/>
          </a:bodyPr>
          <a:lstStyle/>
          <a:p>
            <a:pPr algn="ctr" indent="0" marL="0">
              <a:buNone/>
            </a:pPr>
            <a:r>
              <a:rPr lang="en-US" sz="2200" b="1" dirty="0">
                <a:solidFill>
                  <a:srgbClr val="00A78E"/>
                </a:solidFill>
                <a:latin typeface="Aptos" pitchFamily="34" charset="0"/>
                <a:ea typeface="Aptos" pitchFamily="34" charset="-122"/>
                <a:cs typeface="Aptos" pitchFamily="34" charset="-120"/>
              </a:rPr>
              <a:t>Bidirectional entailment</a:t>
            </a:r>
            <a:endParaRPr lang="en-US" sz="2200" dirty="0"/>
          </a:p>
          <a:p>
            <a:pPr algn="ctr" indent="0" marL="0">
              <a:buNone/>
            </a:pPr>
            <a:r>
              <a:rPr lang="en-US" sz="2200" b="1" dirty="0">
                <a:solidFill>
                  <a:srgbClr val="00A78E"/>
                </a:solidFill>
                <a:latin typeface="Aptos" pitchFamily="34" charset="0"/>
                <a:ea typeface="Aptos" pitchFamily="34" charset="-122"/>
                <a:cs typeface="Aptos" pitchFamily="34" charset="-120"/>
              </a:rPr>
              <a:t>A ⇔ B</a:t>
            </a:r>
            <a:endParaRPr lang="en-US" sz="2200" dirty="0"/>
          </a:p>
        </p:txBody>
      </p:sp>
      <p:sp>
        <p:nvSpPr>
          <p:cNvPr id="12" name="Text 10"/>
          <p:cNvSpPr/>
          <p:nvPr/>
        </p:nvSpPr>
        <p:spPr>
          <a:xfrm>
            <a:off x="3877056" y="3858768"/>
            <a:ext cx="3749040" cy="585216"/>
          </a:xfrm>
          <a:prstGeom prst="rect">
            <a:avLst/>
          </a:prstGeom>
          <a:solidFill>
            <a:srgbClr val="0E1726"/>
          </a:solidFill>
          <a:ln>
            <a:solidFill>
              <a:srgbClr val="0E1726"/>
            </a:solidFill>
          </a:ln>
        </p:spPr>
        <p:txBody>
          <a:bodyPr wrap="square" lIns="1524" tIns="1524" rIns="1524" bIns="1524"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Result: same semantic cluster</a:t>
            </a:r>
            <a:endParaRPr lang="en-US" sz="2000" dirty="0"/>
          </a:p>
        </p:txBody>
      </p:sp>
      <p:sp>
        <p:nvSpPr>
          <p:cNvPr id="13" name="Text 11"/>
          <p:cNvSpPr/>
          <p:nvPr/>
        </p:nvSpPr>
        <p:spPr>
          <a:xfrm>
            <a:off x="914400" y="5074920"/>
            <a:ext cx="4800600" cy="868680"/>
          </a:xfrm>
          <a:prstGeom prst="rect">
            <a:avLst/>
          </a:prstGeom>
          <a:solidFill>
            <a:srgbClr val="E8EDFF"/>
          </a:solidFill>
          <a:ln>
            <a:solidFill>
              <a:srgbClr val="FFFFFF">
                <a:alpha val="0"/>
              </a:srgbClr>
            </a:solidFill>
          </a:ln>
        </p:spPr>
        <p:txBody>
          <a:bodyPr wrap="square" lIns="1524" tIns="1524" rIns="1524" bIns="1524" rtlCol="0" anchor="ctr">
            <a:normAutofit/>
          </a:bodyPr>
          <a:lstStyle/>
          <a:p>
            <a:pPr indent="0" marL="0">
              <a:buNone/>
            </a:pPr>
            <a:r>
              <a:rPr lang="en-US" sz="1700" b="1" dirty="0">
                <a:solidFill>
                  <a:srgbClr val="3D63FF"/>
                </a:solidFill>
                <a:latin typeface="Aptos" pitchFamily="34" charset="0"/>
                <a:ea typeface="Aptos" pitchFamily="34" charset="-122"/>
                <a:cs typeface="Aptos" pitchFamily="34" charset="-120"/>
              </a:rPr>
              <a:t>Why bidirectional?</a:t>
            </a:r>
            <a:endParaRPr lang="en-US" sz="1700" dirty="0"/>
          </a:p>
          <a:p>
            <a:pPr indent="0" marL="0">
              <a:buNone/>
            </a:pPr>
            <a:r>
              <a:rPr lang="en-US" sz="1700" b="1" dirty="0">
                <a:solidFill>
                  <a:srgbClr val="3D63FF"/>
                </a:solidFill>
                <a:latin typeface="Aptos" pitchFamily="34" charset="0"/>
                <a:ea typeface="Aptos" pitchFamily="34" charset="-122"/>
                <a:cs typeface="Aptos" pitchFamily="34" charset="-120"/>
              </a:rPr>
              <a:t>One-way entailment may indicate partial information, not equivalence. Strict equivalence reduces accidental merging.</a:t>
            </a:r>
            <a:endParaRPr lang="en-US" sz="1700" dirty="0"/>
          </a:p>
        </p:txBody>
      </p:sp>
      <p:sp>
        <p:nvSpPr>
          <p:cNvPr id="14" name="Text 12"/>
          <p:cNvSpPr/>
          <p:nvPr/>
        </p:nvSpPr>
        <p:spPr>
          <a:xfrm>
            <a:off x="6446520" y="5074920"/>
            <a:ext cx="4800600" cy="868680"/>
          </a:xfrm>
          <a:prstGeom prst="rect">
            <a:avLst/>
          </a:prstGeom>
          <a:solidFill>
            <a:srgbClr val="FFF3D6"/>
          </a:solidFill>
          <a:ln>
            <a:solidFill>
              <a:srgbClr val="FFFFFF">
                <a:alpha val="0"/>
              </a:srgbClr>
            </a:solidFill>
          </a:ln>
        </p:spPr>
        <p:txBody>
          <a:bodyPr wrap="square" lIns="1524" tIns="1524" rIns="1524" bIns="1524" rtlCol="0" anchor="ctr">
            <a:normAutofit/>
          </a:bodyPr>
          <a:lstStyle/>
          <a:p>
            <a:pPr indent="0" marL="0">
              <a:buNone/>
            </a:pPr>
            <a:r>
              <a:rPr lang="en-US" sz="1700" b="1" dirty="0">
                <a:solidFill>
                  <a:srgbClr val="F6A623"/>
                </a:solidFill>
                <a:latin typeface="Aptos" pitchFamily="34" charset="0"/>
                <a:ea typeface="Aptos" pitchFamily="34" charset="-122"/>
                <a:cs typeface="Aptos" pitchFamily="34" charset="-120"/>
              </a:rPr>
              <a:t>Limitation</a:t>
            </a:r>
            <a:endParaRPr lang="en-US" sz="1700" dirty="0"/>
          </a:p>
          <a:p>
            <a:pPr indent="0" marL="0">
              <a:buNone/>
            </a:pPr>
            <a:r>
              <a:rPr lang="en-US" sz="1700" b="1" dirty="0">
                <a:solidFill>
                  <a:srgbClr val="F6A623"/>
                </a:solidFill>
                <a:latin typeface="Aptos" pitchFamily="34" charset="0"/>
                <a:ea typeface="Aptos" pitchFamily="34" charset="-122"/>
                <a:cs typeface="Aptos" pitchFamily="34" charset="-120"/>
              </a:rPr>
              <a:t>The NLI model becomes a hidden dependency: cost, domain robustness, and threshold sensitivity matter.</a:t>
            </a:r>
            <a:endParaRPr lang="en-US" sz="1700" dirty="0"/>
          </a:p>
        </p:txBody>
      </p:sp>
      <p:sp>
        <p:nvSpPr>
          <p:cNvPr id="15" name="Text 13"/>
          <p:cNvSpPr/>
          <p:nvPr/>
        </p:nvSpPr>
        <p:spPr>
          <a:xfrm>
            <a:off x="566928" y="6473952"/>
            <a:ext cx="8046720" cy="164592"/>
          </a:xfrm>
          <a:prstGeom prst="rect">
            <a:avLst/>
          </a:prstGeom>
          <a:noFill/>
          <a:ln/>
        </p:spPr>
        <p:txBody>
          <a:bodyPr wrap="square" lIns="0" tIns="0" rIns="0" bIns="0" rtlCol="0" anchor="ctr">
            <a:normAutofit/>
          </a:bodyPr>
          <a:lstStyle/>
          <a:p>
            <a:pPr indent="0" marL="0">
              <a:buNone/>
            </a:pPr>
            <a:r>
              <a:rPr lang="en-US" sz="750" dirty="0">
                <a:solidFill>
                  <a:srgbClr val="7A8294"/>
                </a:solidFill>
              </a:rPr>
              <a:t>NLI-based bidirectional entailment and clustering limitations: [4], [2], [9]</a:t>
            </a:r>
            <a:endParaRPr lang="en-US" sz="750" dirty="0"/>
          </a:p>
        </p:txBody>
      </p:sp>
      <p:sp>
        <p:nvSpPr>
          <p:cNvPr id="16" name="Text 14"/>
          <p:cNvSpPr/>
          <p:nvPr/>
        </p:nvSpPr>
        <p:spPr>
          <a:xfrm>
            <a:off x="9326880" y="6473952"/>
            <a:ext cx="2286000" cy="164592"/>
          </a:xfrm>
          <a:prstGeom prst="rect">
            <a:avLst/>
          </a:prstGeom>
          <a:noFill/>
          <a:ln/>
        </p:spPr>
        <p:txBody>
          <a:bodyPr wrap="square" lIns="0" tIns="0" rIns="0" bIns="0" rtlCol="0" anchor="ctr">
            <a:normAutofit/>
          </a:bodyPr>
          <a:lstStyle/>
          <a:p>
            <a:pPr algn="r" indent="0" marL="0">
              <a:buNone/>
            </a:pPr>
            <a:r>
              <a:rPr lang="en-US" sz="750" dirty="0">
                <a:solidFill>
                  <a:srgbClr val="7A8294"/>
                </a:solidFill>
              </a:rPr>
              <a:t>LLM Uncertainty Metrics Survey</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530352" y="301752"/>
            <a:ext cx="502920" cy="256032"/>
          </a:xfrm>
          <a:prstGeom prst="rect">
            <a:avLst/>
          </a:prstGeom>
          <a:noFill/>
          <a:ln/>
        </p:spPr>
        <p:txBody>
          <a:bodyPr wrap="square" lIns="0" tIns="0" rIns="0" bIns="0" rtlCol="0" anchor="ctr"/>
          <a:lstStyle/>
          <a:p>
            <a:pPr indent="0" marL="0">
              <a:buNone/>
            </a:pPr>
            <a:r>
              <a:rPr lang="en-US" sz="1000" b="1" dirty="0">
                <a:solidFill>
                  <a:srgbClr val="3D63FF"/>
                </a:solidFill>
                <a:latin typeface="Aptos" pitchFamily="34" charset="0"/>
                <a:ea typeface="Aptos" pitchFamily="34" charset="-122"/>
                <a:cs typeface="Aptos" pitchFamily="34" charset="-120"/>
              </a:rPr>
              <a:t>08</a:t>
            </a:r>
            <a:endParaRPr lang="en-US" sz="1000" dirty="0"/>
          </a:p>
        </p:txBody>
      </p:sp>
      <p:sp>
        <p:nvSpPr>
          <p:cNvPr id="3" name="Text 1"/>
          <p:cNvSpPr/>
          <p:nvPr/>
        </p:nvSpPr>
        <p:spPr>
          <a:xfrm>
            <a:off x="1097280" y="228600"/>
            <a:ext cx="8778240" cy="457200"/>
          </a:xfrm>
          <a:prstGeom prst="rect">
            <a:avLst/>
          </a:prstGeom>
          <a:noFill/>
          <a:ln/>
        </p:spPr>
        <p:txBody>
          <a:bodyPr wrap="square" lIns="254" tIns="254" rIns="254" bIns="254" rtlCol="0" anchor="ctr">
            <a:normAutofit/>
          </a:bodyPr>
          <a:lstStyle/>
          <a:p>
            <a:pPr indent="0" marL="0">
              <a:buNone/>
            </a:pPr>
            <a:r>
              <a:rPr lang="en-US" sz="2800" b="1" dirty="0">
                <a:solidFill>
                  <a:srgbClr val="172033"/>
                </a:solidFill>
                <a:latin typeface="Aptos Display" pitchFamily="34" charset="0"/>
                <a:ea typeface="Aptos Display" pitchFamily="34" charset="-122"/>
                <a:cs typeface="Aptos Display" pitchFamily="34" charset="-120"/>
              </a:rPr>
              <a:t>Extensions: DSE and KLE</a:t>
            </a:r>
            <a:endParaRPr lang="en-US" sz="2800" dirty="0"/>
          </a:p>
        </p:txBody>
      </p:sp>
      <p:sp>
        <p:nvSpPr>
          <p:cNvPr id="4" name="Text 2"/>
          <p:cNvSpPr/>
          <p:nvPr/>
        </p:nvSpPr>
        <p:spPr>
          <a:xfrm>
            <a:off x="1097280" y="694944"/>
            <a:ext cx="8961120" cy="292608"/>
          </a:xfrm>
          <a:prstGeom prst="rect">
            <a:avLst/>
          </a:prstGeom>
          <a:noFill/>
          <a:ln/>
        </p:spPr>
        <p:txBody>
          <a:bodyPr wrap="square" lIns="254" tIns="254" rIns="254" bIns="254" rtlCol="0" anchor="ctr">
            <a:normAutofit/>
          </a:bodyPr>
          <a:lstStyle/>
          <a:p>
            <a:pPr indent="0" marL="0">
              <a:buNone/>
            </a:pPr>
            <a:r>
              <a:rPr lang="en-US" sz="1250" dirty="0">
                <a:solidFill>
                  <a:srgbClr val="5D667A"/>
                </a:solidFill>
                <a:latin typeface="Aptos" pitchFamily="34" charset="0"/>
                <a:ea typeface="Aptos" pitchFamily="34" charset="-122"/>
                <a:cs typeface="Aptos" pitchFamily="34" charset="-120"/>
              </a:rPr>
              <a:t>Two responses to operational limitations of Semantic Entropy</a:t>
            </a:r>
            <a:endParaRPr lang="en-US" sz="1250" dirty="0"/>
          </a:p>
        </p:txBody>
      </p:sp>
      <p:sp>
        <p:nvSpPr>
          <p:cNvPr id="5" name="Shape 3"/>
          <p:cNvSpPr/>
          <p:nvPr/>
        </p:nvSpPr>
        <p:spPr>
          <a:xfrm>
            <a:off x="530352" y="1060704"/>
            <a:ext cx="11155680" cy="0"/>
          </a:xfrm>
          <a:prstGeom prst="line">
            <a:avLst/>
          </a:prstGeom>
          <a:noFill/>
          <a:ln w="12700">
            <a:solidFill>
              <a:srgbClr val="D7DDEB"/>
            </a:solidFill>
            <a:prstDash val="solid"/>
          </a:ln>
        </p:spPr>
      </p:sp>
      <p:sp>
        <p:nvSpPr>
          <p:cNvPr id="6" name="Text 4"/>
          <p:cNvSpPr/>
          <p:nvPr/>
        </p:nvSpPr>
        <p:spPr>
          <a:xfrm>
            <a:off x="777240" y="1371600"/>
            <a:ext cx="5166360" cy="502920"/>
          </a:xfrm>
          <a:prstGeom prst="rect">
            <a:avLst/>
          </a:prstGeom>
          <a:solidFill>
            <a:srgbClr val="E8EDFF"/>
          </a:solidFill>
          <a:ln>
            <a:solidFill>
              <a:srgbClr val="FFFFFF">
                <a:alpha val="0"/>
              </a:srgbClr>
            </a:solidFill>
          </a:ln>
        </p:spPr>
        <p:txBody>
          <a:bodyPr wrap="square" lIns="1524" tIns="1524" rIns="1524" bIns="1524" rtlCol="0" anchor="ctr">
            <a:normAutofit/>
          </a:bodyPr>
          <a:lstStyle/>
          <a:p>
            <a:pPr algn="ctr" indent="0" marL="0">
              <a:buNone/>
            </a:pPr>
            <a:r>
              <a:rPr lang="en-US" sz="2100" b="1" dirty="0">
                <a:solidFill>
                  <a:srgbClr val="3D63FF"/>
                </a:solidFill>
                <a:latin typeface="Aptos" pitchFamily="34" charset="0"/>
                <a:ea typeface="Aptos" pitchFamily="34" charset="-122"/>
                <a:cs typeface="Aptos" pitchFamily="34" charset="-120"/>
              </a:rPr>
              <a:t>Discrete Semantic Entropy (DSE)</a:t>
            </a:r>
            <a:endParaRPr lang="en-US" sz="2100" dirty="0"/>
          </a:p>
        </p:txBody>
      </p:sp>
      <p:sp>
        <p:nvSpPr>
          <p:cNvPr id="7" name="Text 5"/>
          <p:cNvSpPr/>
          <p:nvPr/>
        </p:nvSpPr>
        <p:spPr>
          <a:xfrm>
            <a:off x="822960" y="2084832"/>
            <a:ext cx="5074920" cy="896112"/>
          </a:xfrm>
          <a:prstGeom prst="rect">
            <a:avLst/>
          </a:prstGeom>
          <a:solidFill>
            <a:srgbClr val="FFFFFF"/>
          </a:solidFill>
          <a:ln>
            <a:solidFill>
              <a:srgbClr val="D7DDEB"/>
            </a:solidFill>
          </a:ln>
        </p:spPr>
        <p:txBody>
          <a:bodyPr wrap="square" lIns="1524" tIns="1524" rIns="1524" bIns="1524" rtlCol="0" anchor="ctr">
            <a:normAutofit/>
          </a:bodyPr>
          <a:lstStyle/>
          <a:p>
            <a:pPr indent="0" marL="0">
              <a:buNone/>
            </a:pPr>
            <a:r>
              <a:rPr lang="en-US" sz="1700" dirty="0">
                <a:solidFill>
                  <a:srgbClr val="172033"/>
                </a:solidFill>
                <a:latin typeface="Aptos" pitchFamily="34" charset="0"/>
                <a:ea typeface="Aptos" pitchFamily="34" charset="-122"/>
                <a:cs typeface="Aptos" pitchFamily="34" charset="-120"/>
              </a:rPr>
              <a:t>Problem addressed</a:t>
            </a:r>
            <a:endParaRPr lang="en-US" sz="1700" dirty="0"/>
          </a:p>
          <a:p>
            <a:pPr indent="0" marL="0">
              <a:buNone/>
            </a:pPr>
            <a:r>
              <a:rPr lang="en-US" sz="1700" dirty="0">
                <a:solidFill>
                  <a:srgbClr val="172033"/>
                </a:solidFill>
                <a:latin typeface="Aptos" pitchFamily="34" charset="0"/>
                <a:ea typeface="Aptos" pitchFamily="34" charset="-122"/>
                <a:cs typeface="Aptos" pitchFamily="34" charset="-120"/>
              </a:rPr>
              <a:t>Standard SE needs token/sequence likelihoods. Many commercial APIs expose limited or no log-probabilities.</a:t>
            </a:r>
            <a:endParaRPr lang="en-US" sz="1700" dirty="0"/>
          </a:p>
        </p:txBody>
      </p:sp>
      <p:sp>
        <p:nvSpPr>
          <p:cNvPr id="8" name="Text 6"/>
          <p:cNvSpPr/>
          <p:nvPr/>
        </p:nvSpPr>
        <p:spPr>
          <a:xfrm>
            <a:off x="822960" y="3246120"/>
            <a:ext cx="5074920" cy="822960"/>
          </a:xfrm>
          <a:prstGeom prst="rect">
            <a:avLst/>
          </a:prstGeom>
          <a:solidFill>
            <a:srgbClr val="FFFFFF"/>
          </a:solidFill>
          <a:ln>
            <a:solidFill>
              <a:srgbClr val="D7DDEB"/>
            </a:solidFill>
          </a:ln>
        </p:spPr>
        <p:txBody>
          <a:bodyPr wrap="square" lIns="1524" tIns="1524" rIns="1524" bIns="1524" rtlCol="0" anchor="ctr">
            <a:normAutofit/>
          </a:bodyPr>
          <a:lstStyle/>
          <a:p>
            <a:pPr indent="0" marL="0">
              <a:buNone/>
            </a:pPr>
            <a:r>
              <a:rPr lang="en-US" sz="1700" dirty="0">
                <a:solidFill>
                  <a:srgbClr val="172033"/>
                </a:solidFill>
                <a:latin typeface="Aptos" pitchFamily="34" charset="0"/>
                <a:ea typeface="Aptos" pitchFamily="34" charset="-122"/>
                <a:cs typeface="Aptos" pitchFamily="34" charset="-120"/>
              </a:rPr>
              <a:t>Core idea</a:t>
            </a:r>
            <a:endParaRPr lang="en-US" sz="1700" dirty="0"/>
          </a:p>
          <a:p>
            <a:pPr indent="0" marL="0">
              <a:buNone/>
            </a:pPr>
            <a:r>
              <a:rPr lang="en-US" sz="1700" dirty="0">
                <a:solidFill>
                  <a:srgbClr val="172033"/>
                </a:solidFill>
                <a:latin typeface="Aptos" pitchFamily="34" charset="0"/>
                <a:ea typeface="Aptos" pitchFamily="34" charset="-122"/>
                <a:cs typeface="Aptos" pitchFamily="34" charset="-120"/>
              </a:rPr>
              <a:t>Estimate semantic-cluster probabilities using empirical frequencies from sampled outputs.</a:t>
            </a:r>
            <a:endParaRPr lang="en-US" sz="1700" dirty="0"/>
          </a:p>
        </p:txBody>
      </p:sp>
      <p:sp>
        <p:nvSpPr>
          <p:cNvPr id="9" name="Text 7"/>
          <p:cNvSpPr/>
          <p:nvPr/>
        </p:nvSpPr>
        <p:spPr>
          <a:xfrm>
            <a:off x="822960" y="4343400"/>
            <a:ext cx="5074920" cy="822960"/>
          </a:xfrm>
          <a:prstGeom prst="rect">
            <a:avLst/>
          </a:prstGeom>
          <a:solidFill>
            <a:srgbClr val="FDECEC"/>
          </a:solidFill>
          <a:ln>
            <a:solidFill>
              <a:srgbClr val="FFFFFF">
                <a:alpha val="0"/>
              </a:srgbClr>
            </a:solidFill>
          </a:ln>
        </p:spPr>
        <p:txBody>
          <a:bodyPr wrap="square" lIns="1524" tIns="1524" rIns="1524" bIns="1524" rtlCol="0" anchor="ctr">
            <a:normAutofit/>
          </a:bodyPr>
          <a:lstStyle/>
          <a:p>
            <a:pPr indent="0" marL="0">
              <a:buNone/>
            </a:pPr>
            <a:r>
              <a:rPr lang="en-US" sz="1700" b="1" dirty="0">
                <a:solidFill>
                  <a:srgbClr val="D64B4B"/>
                </a:solidFill>
                <a:latin typeface="Aptos" pitchFamily="34" charset="0"/>
                <a:ea typeface="Aptos" pitchFamily="34" charset="-122"/>
                <a:cs typeface="Aptos" pitchFamily="34" charset="-120"/>
              </a:rPr>
              <a:t>Main limitation</a:t>
            </a:r>
            <a:endParaRPr lang="en-US" sz="1700" dirty="0"/>
          </a:p>
          <a:p>
            <a:pPr indent="0" marL="0">
              <a:buNone/>
            </a:pPr>
            <a:r>
              <a:rPr lang="en-US" sz="1700" b="1" dirty="0">
                <a:solidFill>
                  <a:srgbClr val="D64B4B"/>
                </a:solidFill>
                <a:latin typeface="Aptos" pitchFamily="34" charset="0"/>
                <a:ea typeface="Aptos" pitchFamily="34" charset="-122"/>
                <a:cs typeface="Aptos" pitchFamily="34" charset="-120"/>
              </a:rPr>
              <a:t>Small sample budgets can miss rare semantic alternatives → underestimation.</a:t>
            </a:r>
            <a:endParaRPr lang="en-US" sz="1700" dirty="0"/>
          </a:p>
        </p:txBody>
      </p:sp>
      <p:sp>
        <p:nvSpPr>
          <p:cNvPr id="10" name="Text 8"/>
          <p:cNvSpPr/>
          <p:nvPr/>
        </p:nvSpPr>
        <p:spPr>
          <a:xfrm>
            <a:off x="6263640" y="1371600"/>
            <a:ext cx="5166360" cy="502920"/>
          </a:xfrm>
          <a:prstGeom prst="rect">
            <a:avLst/>
          </a:prstGeom>
          <a:solidFill>
            <a:srgbClr val="E7F7F3"/>
          </a:solidFill>
          <a:ln>
            <a:solidFill>
              <a:srgbClr val="FFFFFF">
                <a:alpha val="0"/>
              </a:srgbClr>
            </a:solidFill>
          </a:ln>
        </p:spPr>
        <p:txBody>
          <a:bodyPr wrap="square" lIns="1524" tIns="1524" rIns="1524" bIns="1524" rtlCol="0" anchor="ctr">
            <a:normAutofit/>
          </a:bodyPr>
          <a:lstStyle/>
          <a:p>
            <a:pPr algn="ctr" indent="0" marL="0">
              <a:buNone/>
            </a:pPr>
            <a:r>
              <a:rPr lang="en-US" sz="2100" b="1" dirty="0">
                <a:solidFill>
                  <a:srgbClr val="00A78E"/>
                </a:solidFill>
                <a:latin typeface="Aptos" pitchFamily="34" charset="0"/>
                <a:ea typeface="Aptos" pitchFamily="34" charset="-122"/>
                <a:cs typeface="Aptos" pitchFamily="34" charset="-120"/>
              </a:rPr>
              <a:t>Kernel Language Entropy (KLE)</a:t>
            </a:r>
            <a:endParaRPr lang="en-US" sz="2100" dirty="0"/>
          </a:p>
        </p:txBody>
      </p:sp>
      <p:sp>
        <p:nvSpPr>
          <p:cNvPr id="11" name="Text 9"/>
          <p:cNvSpPr/>
          <p:nvPr/>
        </p:nvSpPr>
        <p:spPr>
          <a:xfrm>
            <a:off x="6309360" y="2084832"/>
            <a:ext cx="5074920" cy="896112"/>
          </a:xfrm>
          <a:prstGeom prst="rect">
            <a:avLst/>
          </a:prstGeom>
          <a:solidFill>
            <a:srgbClr val="FFFFFF"/>
          </a:solidFill>
          <a:ln>
            <a:solidFill>
              <a:srgbClr val="D7DDEB"/>
            </a:solidFill>
          </a:ln>
        </p:spPr>
        <p:txBody>
          <a:bodyPr wrap="square" lIns="1524" tIns="1524" rIns="1524" bIns="1524" rtlCol="0" anchor="ctr">
            <a:normAutofit/>
          </a:bodyPr>
          <a:lstStyle/>
          <a:p>
            <a:pPr indent="0" marL="0">
              <a:buNone/>
            </a:pPr>
            <a:r>
              <a:rPr lang="en-US" sz="1700" dirty="0">
                <a:solidFill>
                  <a:srgbClr val="172033"/>
                </a:solidFill>
                <a:latin typeface="Aptos" pitchFamily="34" charset="0"/>
                <a:ea typeface="Aptos" pitchFamily="34" charset="-122"/>
                <a:cs typeface="Aptos" pitchFamily="34" charset="-120"/>
              </a:rPr>
              <a:t>Problem addressed</a:t>
            </a:r>
            <a:endParaRPr lang="en-US" sz="1700" dirty="0"/>
          </a:p>
          <a:p>
            <a:pPr indent="0" marL="0">
              <a:buNone/>
            </a:pPr>
            <a:r>
              <a:rPr lang="en-US" sz="1700" dirty="0">
                <a:solidFill>
                  <a:srgbClr val="172033"/>
                </a:solidFill>
                <a:latin typeface="Aptos" pitchFamily="34" charset="0"/>
                <a:ea typeface="Aptos" pitchFamily="34" charset="-122"/>
                <a:cs typeface="Aptos" pitchFamily="34" charset="-120"/>
              </a:rPr>
              <a:t>Hard clusters are rigid for long-form answers with partial semantic overlap.</a:t>
            </a:r>
            <a:endParaRPr lang="en-US" sz="1700" dirty="0"/>
          </a:p>
        </p:txBody>
      </p:sp>
      <p:sp>
        <p:nvSpPr>
          <p:cNvPr id="12" name="Text 10"/>
          <p:cNvSpPr/>
          <p:nvPr/>
        </p:nvSpPr>
        <p:spPr>
          <a:xfrm>
            <a:off x="6309360" y="3246120"/>
            <a:ext cx="5074920" cy="822960"/>
          </a:xfrm>
          <a:prstGeom prst="rect">
            <a:avLst/>
          </a:prstGeom>
          <a:solidFill>
            <a:srgbClr val="FFFFFF"/>
          </a:solidFill>
          <a:ln>
            <a:solidFill>
              <a:srgbClr val="D7DDEB"/>
            </a:solidFill>
          </a:ln>
        </p:spPr>
        <p:txBody>
          <a:bodyPr wrap="square" lIns="1524" tIns="1524" rIns="1524" bIns="1524" rtlCol="0" anchor="ctr">
            <a:normAutofit/>
          </a:bodyPr>
          <a:lstStyle/>
          <a:p>
            <a:pPr indent="0" marL="0">
              <a:buNone/>
            </a:pPr>
            <a:r>
              <a:rPr lang="en-US" sz="1700" dirty="0">
                <a:solidFill>
                  <a:srgbClr val="172033"/>
                </a:solidFill>
                <a:latin typeface="Aptos" pitchFamily="34" charset="0"/>
                <a:ea typeface="Aptos" pitchFamily="34" charset="-122"/>
                <a:cs typeface="Aptos" pitchFamily="34" charset="-120"/>
              </a:rPr>
              <a:t>Core idea</a:t>
            </a:r>
            <a:endParaRPr lang="en-US" sz="1700" dirty="0"/>
          </a:p>
          <a:p>
            <a:pPr indent="0" marL="0">
              <a:buNone/>
            </a:pPr>
            <a:r>
              <a:rPr lang="en-US" sz="1700" dirty="0">
                <a:solidFill>
                  <a:srgbClr val="172033"/>
                </a:solidFill>
                <a:latin typeface="Aptos" pitchFamily="34" charset="0"/>
                <a:ea typeface="Aptos" pitchFamily="34" charset="-122"/>
                <a:cs typeface="Aptos" pitchFamily="34" charset="-120"/>
              </a:rPr>
              <a:t>Represent semantic relatedness with a continuous kernel matrix.</a:t>
            </a:r>
            <a:endParaRPr lang="en-US" sz="170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rcRect l="0" r="0" t="0" b="0"/>
          <a:stretch/>
        </p:blipFill>
        <p:spPr>
          <a:xfrm>
            <a:off x="6263640" y="4315968"/>
            <a:ext cx="5166360" cy="868680"/>
          </a:xfrm>
          <a:prstGeom prst="rect">
            <a:avLst/>
          </a:prstGeom>
        </p:spPr>
      </p:pic>
      <p:sp>
        <p:nvSpPr>
          <p:cNvPr id="14" name="Text 11"/>
          <p:cNvSpPr/>
          <p:nvPr/>
        </p:nvSpPr>
        <p:spPr>
          <a:xfrm>
            <a:off x="566928" y="6473952"/>
            <a:ext cx="8046720" cy="164592"/>
          </a:xfrm>
          <a:prstGeom prst="rect">
            <a:avLst/>
          </a:prstGeom>
          <a:noFill/>
          <a:ln/>
        </p:spPr>
        <p:txBody>
          <a:bodyPr wrap="square" lIns="0" tIns="0" rIns="0" bIns="0" rtlCol="0" anchor="ctr">
            <a:normAutofit/>
          </a:bodyPr>
          <a:lstStyle/>
          <a:p>
            <a:pPr indent="0" marL="0">
              <a:buNone/>
            </a:pPr>
            <a:r>
              <a:rPr lang="en-US" sz="750" dirty="0">
                <a:solidFill>
                  <a:srgbClr val="7A8294"/>
                </a:solidFill>
              </a:rPr>
              <a:t>DSE black-box adaptation: [2]; KLE continuous semantic spaces: [7]</a:t>
            </a:r>
            <a:endParaRPr lang="en-US" sz="750" dirty="0"/>
          </a:p>
        </p:txBody>
      </p:sp>
      <p:sp>
        <p:nvSpPr>
          <p:cNvPr id="15" name="Text 12"/>
          <p:cNvSpPr/>
          <p:nvPr/>
        </p:nvSpPr>
        <p:spPr>
          <a:xfrm>
            <a:off x="9326880" y="6473952"/>
            <a:ext cx="2286000" cy="164592"/>
          </a:xfrm>
          <a:prstGeom prst="rect">
            <a:avLst/>
          </a:prstGeom>
          <a:noFill/>
          <a:ln/>
        </p:spPr>
        <p:txBody>
          <a:bodyPr wrap="square" lIns="0" tIns="0" rIns="0" bIns="0" rtlCol="0" anchor="ctr">
            <a:normAutofit/>
          </a:bodyPr>
          <a:lstStyle/>
          <a:p>
            <a:pPr algn="r" indent="0" marL="0">
              <a:buNone/>
            </a:pPr>
            <a:r>
              <a:rPr lang="en-US" sz="750" dirty="0">
                <a:solidFill>
                  <a:srgbClr val="7A8294"/>
                </a:solidFill>
              </a:rPr>
              <a:t>LLM Uncertainty Metrics Survey</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530352" y="301752"/>
            <a:ext cx="502920" cy="256032"/>
          </a:xfrm>
          <a:prstGeom prst="rect">
            <a:avLst/>
          </a:prstGeom>
          <a:noFill/>
          <a:ln/>
        </p:spPr>
        <p:txBody>
          <a:bodyPr wrap="square" lIns="0" tIns="0" rIns="0" bIns="0" rtlCol="0" anchor="ctr"/>
          <a:lstStyle/>
          <a:p>
            <a:pPr indent="0" marL="0">
              <a:buNone/>
            </a:pPr>
            <a:r>
              <a:rPr lang="en-US" sz="1000" b="1" dirty="0">
                <a:solidFill>
                  <a:srgbClr val="3D63FF"/>
                </a:solidFill>
                <a:latin typeface="Aptos" pitchFamily="34" charset="0"/>
                <a:ea typeface="Aptos" pitchFamily="34" charset="-122"/>
                <a:cs typeface="Aptos" pitchFamily="34" charset="-120"/>
              </a:rPr>
              <a:t>09</a:t>
            </a:r>
            <a:endParaRPr lang="en-US" sz="1000" dirty="0"/>
          </a:p>
        </p:txBody>
      </p:sp>
      <p:sp>
        <p:nvSpPr>
          <p:cNvPr id="3" name="Text 1"/>
          <p:cNvSpPr/>
          <p:nvPr/>
        </p:nvSpPr>
        <p:spPr>
          <a:xfrm>
            <a:off x="1097280" y="228600"/>
            <a:ext cx="8778240" cy="457200"/>
          </a:xfrm>
          <a:prstGeom prst="rect">
            <a:avLst/>
          </a:prstGeom>
          <a:noFill/>
          <a:ln/>
        </p:spPr>
        <p:txBody>
          <a:bodyPr wrap="square" lIns="254" tIns="254" rIns="254" bIns="254" rtlCol="0" anchor="ctr">
            <a:normAutofit/>
          </a:bodyPr>
          <a:lstStyle/>
          <a:p>
            <a:pPr indent="0" marL="0">
              <a:buNone/>
            </a:pPr>
            <a:r>
              <a:rPr lang="en-US" sz="2800" b="1" dirty="0">
                <a:solidFill>
                  <a:srgbClr val="172033"/>
                </a:solidFill>
                <a:latin typeface="Aptos Display" pitchFamily="34" charset="0"/>
                <a:ea typeface="Aptos Display" pitchFamily="34" charset="-122"/>
                <a:cs typeface="Aptos Display" pitchFamily="34" charset="-120"/>
              </a:rPr>
              <a:t>Evaluation and practical constraints</a:t>
            </a:r>
            <a:endParaRPr lang="en-US" sz="2800" dirty="0"/>
          </a:p>
        </p:txBody>
      </p:sp>
      <p:sp>
        <p:nvSpPr>
          <p:cNvPr id="4" name="Text 2"/>
          <p:cNvSpPr/>
          <p:nvPr/>
        </p:nvSpPr>
        <p:spPr>
          <a:xfrm>
            <a:off x="1097280" y="694944"/>
            <a:ext cx="8961120" cy="292608"/>
          </a:xfrm>
          <a:prstGeom prst="rect">
            <a:avLst/>
          </a:prstGeom>
          <a:noFill/>
          <a:ln/>
        </p:spPr>
        <p:txBody>
          <a:bodyPr wrap="square" lIns="254" tIns="254" rIns="254" bIns="254" rtlCol="0" anchor="ctr">
            <a:normAutofit/>
          </a:bodyPr>
          <a:lstStyle/>
          <a:p>
            <a:pPr indent="0" marL="0">
              <a:buNone/>
            </a:pPr>
            <a:r>
              <a:rPr lang="en-US" sz="1250" dirty="0">
                <a:solidFill>
                  <a:srgbClr val="5D667A"/>
                </a:solidFill>
                <a:latin typeface="Aptos" pitchFamily="34" charset="0"/>
                <a:ea typeface="Aptos" pitchFamily="34" charset="-122"/>
                <a:cs typeface="Aptos" pitchFamily="34" charset="-120"/>
              </a:rPr>
              <a:t>Semantic metrics improve alignment with meaning, but deployment remains costly</a:t>
            </a:r>
            <a:endParaRPr lang="en-US" sz="1250" dirty="0"/>
          </a:p>
        </p:txBody>
      </p:sp>
      <p:sp>
        <p:nvSpPr>
          <p:cNvPr id="5" name="Shape 3"/>
          <p:cNvSpPr/>
          <p:nvPr/>
        </p:nvSpPr>
        <p:spPr>
          <a:xfrm>
            <a:off x="530352" y="1060704"/>
            <a:ext cx="11155680" cy="0"/>
          </a:xfrm>
          <a:prstGeom prst="line">
            <a:avLst/>
          </a:prstGeom>
          <a:noFill/>
          <a:ln w="12700">
            <a:solidFill>
              <a:srgbClr val="D7DDEB"/>
            </a:solidFill>
            <a:prstDash val="solid"/>
          </a:ln>
        </p:spPr>
      </p:sp>
      <p:sp>
        <p:nvSpPr>
          <p:cNvPr id="6" name="Text 4"/>
          <p:cNvSpPr/>
          <p:nvPr/>
        </p:nvSpPr>
        <p:spPr>
          <a:xfrm>
            <a:off x="777240" y="1325880"/>
            <a:ext cx="3429000" cy="502920"/>
          </a:xfrm>
          <a:prstGeom prst="rect">
            <a:avLst/>
          </a:prstGeom>
          <a:solidFill>
            <a:srgbClr val="E8EDFF"/>
          </a:solidFill>
          <a:ln>
            <a:solidFill>
              <a:srgbClr val="FFFFFF">
                <a:alpha val="0"/>
              </a:srgbClr>
            </a:solidFill>
          </a:ln>
        </p:spPr>
        <p:txBody>
          <a:bodyPr wrap="square" lIns="1524" tIns="1524" rIns="1524" bIns="1524" rtlCol="0" anchor="ctr">
            <a:normAutofit/>
          </a:bodyPr>
          <a:lstStyle/>
          <a:p>
            <a:pPr algn="ctr" indent="0" marL="0">
              <a:buNone/>
            </a:pPr>
            <a:r>
              <a:rPr lang="en-US" sz="2000" b="1" dirty="0">
                <a:solidFill>
                  <a:srgbClr val="3D63FF"/>
                </a:solidFill>
                <a:latin typeface="Aptos" pitchFamily="34" charset="0"/>
                <a:ea typeface="Aptos" pitchFamily="34" charset="-122"/>
                <a:cs typeface="Aptos" pitchFamily="34" charset="-120"/>
              </a:rPr>
              <a:t>Evaluation objective</a:t>
            </a:r>
            <a:endParaRPr lang="en-US" sz="2000" dirty="0"/>
          </a:p>
        </p:txBody>
      </p:sp>
      <p:sp>
        <p:nvSpPr>
          <p:cNvPr id="7" name="Text 5"/>
          <p:cNvSpPr/>
          <p:nvPr/>
        </p:nvSpPr>
        <p:spPr>
          <a:xfrm>
            <a:off x="868680" y="2029968"/>
            <a:ext cx="3246120" cy="96012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800" dirty="0">
                <a:solidFill>
                  <a:srgbClr val="172033"/>
                </a:solidFill>
                <a:latin typeface="Aptos" pitchFamily="34" charset="0"/>
                <a:ea typeface="Aptos" pitchFamily="34" charset="-122"/>
                <a:cs typeface="Aptos" pitchFamily="34" charset="-120"/>
              </a:rPr>
              <a:t>Can the uncertainty score distinguish correct generations from incorrect generations?</a:t>
            </a:r>
            <a:endParaRPr lang="en-US" sz="1800" dirty="0"/>
          </a:p>
        </p:txBody>
      </p:sp>
      <p:sp>
        <p:nvSpPr>
          <p:cNvPr id="8" name="Text 6"/>
          <p:cNvSpPr/>
          <p:nvPr/>
        </p:nvSpPr>
        <p:spPr>
          <a:xfrm>
            <a:off x="868680" y="3364992"/>
            <a:ext cx="3246120" cy="96012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800" dirty="0">
                <a:solidFill>
                  <a:srgbClr val="172033"/>
                </a:solidFill>
                <a:latin typeface="Aptos" pitchFamily="34" charset="0"/>
                <a:ea typeface="Aptos" pitchFamily="34" charset="-122"/>
                <a:cs typeface="Aptos" pitchFamily="34" charset="-120"/>
              </a:rPr>
              <a:t>Common metrics</a:t>
            </a:r>
            <a:endParaRPr lang="en-US" sz="1800" dirty="0"/>
          </a:p>
          <a:p>
            <a:pPr algn="ctr" indent="0" marL="0">
              <a:buNone/>
            </a:pPr>
            <a:r>
              <a:rPr lang="en-US" sz="1800" dirty="0">
                <a:solidFill>
                  <a:srgbClr val="172033"/>
                </a:solidFill>
                <a:latin typeface="Aptos" pitchFamily="34" charset="0"/>
                <a:ea typeface="Aptos" pitchFamily="34" charset="-122"/>
                <a:cs typeface="Aptos" pitchFamily="34" charset="-120"/>
              </a:rPr>
              <a:t>AUROC</a:t>
            </a:r>
            <a:endParaRPr lang="en-US" sz="1800" dirty="0"/>
          </a:p>
          <a:p>
            <a:pPr algn="ctr" indent="0" marL="0">
              <a:buNone/>
            </a:pPr>
            <a:r>
              <a:rPr lang="en-US" sz="1800" dirty="0">
                <a:solidFill>
                  <a:srgbClr val="172033"/>
                </a:solidFill>
                <a:latin typeface="Aptos" pitchFamily="34" charset="0"/>
                <a:ea typeface="Aptos" pitchFamily="34" charset="-122"/>
                <a:cs typeface="Aptos" pitchFamily="34" charset="-120"/>
              </a:rPr>
              <a:t>Accuracy–rejection curve</a:t>
            </a:r>
            <a:endParaRPr lang="en-US" sz="1800" dirty="0"/>
          </a:p>
        </p:txBody>
      </p:sp>
      <p:sp>
        <p:nvSpPr>
          <p:cNvPr id="9" name="Text 7"/>
          <p:cNvSpPr/>
          <p:nvPr/>
        </p:nvSpPr>
        <p:spPr>
          <a:xfrm>
            <a:off x="4434840" y="1325880"/>
            <a:ext cx="3429000" cy="502920"/>
          </a:xfrm>
          <a:prstGeom prst="rect">
            <a:avLst/>
          </a:prstGeom>
          <a:solidFill>
            <a:srgbClr val="E7F7F3"/>
          </a:solidFill>
          <a:ln>
            <a:solidFill>
              <a:srgbClr val="FFFFFF">
                <a:alpha val="0"/>
              </a:srgbClr>
            </a:solidFill>
          </a:ln>
        </p:spPr>
        <p:txBody>
          <a:bodyPr wrap="square" lIns="1524" tIns="1524" rIns="1524" bIns="1524" rtlCol="0" anchor="ctr">
            <a:normAutofit/>
          </a:bodyPr>
          <a:lstStyle/>
          <a:p>
            <a:pPr algn="ctr" indent="0" marL="0">
              <a:buNone/>
            </a:pPr>
            <a:r>
              <a:rPr lang="en-US" sz="2000" b="1" dirty="0">
                <a:solidFill>
                  <a:srgbClr val="00A78E"/>
                </a:solidFill>
                <a:latin typeface="Aptos" pitchFamily="34" charset="0"/>
                <a:ea typeface="Aptos" pitchFamily="34" charset="-122"/>
                <a:cs typeface="Aptos" pitchFamily="34" charset="-120"/>
              </a:rPr>
              <a:t>Empirical trend</a:t>
            </a:r>
            <a:endParaRPr lang="en-US" sz="2000" dirty="0"/>
          </a:p>
        </p:txBody>
      </p:sp>
      <p:sp>
        <p:nvSpPr>
          <p:cNvPr id="10" name="Text 8"/>
          <p:cNvSpPr/>
          <p:nvPr/>
        </p:nvSpPr>
        <p:spPr>
          <a:xfrm>
            <a:off x="4526280" y="2029968"/>
            <a:ext cx="3246120" cy="1828800"/>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750" dirty="0">
                <a:solidFill>
                  <a:srgbClr val="172033"/>
                </a:solidFill>
                <a:latin typeface="Aptos" pitchFamily="34" charset="0"/>
                <a:ea typeface="Aptos" pitchFamily="34" charset="-122"/>
                <a:cs typeface="Aptos" pitchFamily="34" charset="-120"/>
              </a:rPr>
              <a:t>Semantic-level metrics often outperform token-level predictive entropy in free-form factual QA because they are robust to paraphrases.</a:t>
            </a:r>
            <a:endParaRPr lang="en-US" sz="1750" dirty="0"/>
          </a:p>
        </p:txBody>
      </p:sp>
      <p:sp>
        <p:nvSpPr>
          <p:cNvPr id="11" name="Text 9"/>
          <p:cNvSpPr/>
          <p:nvPr/>
        </p:nvSpPr>
        <p:spPr>
          <a:xfrm>
            <a:off x="8092440" y="1325880"/>
            <a:ext cx="3429000" cy="502920"/>
          </a:xfrm>
          <a:prstGeom prst="rect">
            <a:avLst/>
          </a:prstGeom>
          <a:solidFill>
            <a:srgbClr val="FFF3D6"/>
          </a:solidFill>
          <a:ln>
            <a:solidFill>
              <a:srgbClr val="FFFFFF">
                <a:alpha val="0"/>
              </a:srgbClr>
            </a:solidFill>
          </a:ln>
        </p:spPr>
        <p:txBody>
          <a:bodyPr wrap="square" lIns="1524" tIns="1524" rIns="1524" bIns="1524" rtlCol="0" anchor="ctr">
            <a:normAutofit/>
          </a:bodyPr>
          <a:lstStyle/>
          <a:p>
            <a:pPr algn="ctr" indent="0" marL="0">
              <a:buNone/>
            </a:pPr>
            <a:r>
              <a:rPr lang="en-US" sz="2000" b="1" dirty="0">
                <a:solidFill>
                  <a:srgbClr val="F6A623"/>
                </a:solidFill>
                <a:latin typeface="Aptos" pitchFamily="34" charset="0"/>
                <a:ea typeface="Aptos" pitchFamily="34" charset="-122"/>
                <a:cs typeface="Aptos" pitchFamily="34" charset="-120"/>
              </a:rPr>
              <a:t>Practical constraints</a:t>
            </a:r>
            <a:endParaRPr lang="en-US" sz="2000" dirty="0"/>
          </a:p>
        </p:txBody>
      </p:sp>
      <p:sp>
        <p:nvSpPr>
          <p:cNvPr id="12" name="Text 10"/>
          <p:cNvSpPr/>
          <p:nvPr/>
        </p:nvSpPr>
        <p:spPr>
          <a:xfrm>
            <a:off x="8183880" y="2029968"/>
            <a:ext cx="3246120" cy="658368"/>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700" dirty="0">
                <a:solidFill>
                  <a:srgbClr val="172033"/>
                </a:solidFill>
                <a:latin typeface="Aptos" pitchFamily="34" charset="0"/>
                <a:ea typeface="Aptos" pitchFamily="34" charset="-122"/>
                <a:cs typeface="Aptos" pitchFamily="34" charset="-120"/>
              </a:rPr>
              <a:t>Multiple generations</a:t>
            </a:r>
            <a:endParaRPr lang="en-US" sz="1700" dirty="0"/>
          </a:p>
          <a:p>
            <a:pPr algn="ctr" indent="0" marL="0">
              <a:buNone/>
            </a:pPr>
            <a:r>
              <a:rPr lang="en-US" sz="1700" dirty="0">
                <a:solidFill>
                  <a:srgbClr val="172033"/>
                </a:solidFill>
                <a:latin typeface="Aptos" pitchFamily="34" charset="0"/>
                <a:ea typeface="Aptos" pitchFamily="34" charset="-122"/>
                <a:cs typeface="Aptos" pitchFamily="34" charset="-120"/>
              </a:rPr>
              <a:t>increase inference cost</a:t>
            </a:r>
            <a:endParaRPr lang="en-US" sz="1700" dirty="0"/>
          </a:p>
        </p:txBody>
      </p:sp>
      <p:sp>
        <p:nvSpPr>
          <p:cNvPr id="13" name="Text 11"/>
          <p:cNvSpPr/>
          <p:nvPr/>
        </p:nvSpPr>
        <p:spPr>
          <a:xfrm>
            <a:off x="8183880" y="2944368"/>
            <a:ext cx="3246120" cy="658368"/>
          </a:xfrm>
          <a:prstGeom prst="rect">
            <a:avLst/>
          </a:prstGeom>
          <a:solidFill>
            <a:srgbClr val="FFFFFF"/>
          </a:solidFill>
          <a:ln>
            <a:solidFill>
              <a:srgbClr val="D7DDEB"/>
            </a:solidFill>
          </a:ln>
        </p:spPr>
        <p:txBody>
          <a:bodyPr wrap="square" lIns="1524" tIns="1524" rIns="1524" bIns="1524" rtlCol="0" anchor="ctr">
            <a:normAutofit/>
          </a:bodyPr>
          <a:lstStyle/>
          <a:p>
            <a:pPr algn="ctr" indent="0" marL="0">
              <a:buNone/>
            </a:pPr>
            <a:r>
              <a:rPr lang="en-US" sz="1700" dirty="0">
                <a:solidFill>
                  <a:srgbClr val="172033"/>
                </a:solidFill>
                <a:latin typeface="Aptos" pitchFamily="34" charset="0"/>
                <a:ea typeface="Aptos" pitchFamily="34" charset="-122"/>
                <a:cs typeface="Aptos" pitchFamily="34" charset="-120"/>
              </a:rPr>
              <a:t>NLI pairwise comparisons</a:t>
            </a:r>
            <a:endParaRPr lang="en-US" sz="1700" dirty="0"/>
          </a:p>
          <a:p>
            <a:pPr algn="ctr" indent="0" marL="0">
              <a:buNone/>
            </a:pPr>
            <a:r>
              <a:rPr lang="en-US" sz="1700" dirty="0">
                <a:solidFill>
                  <a:srgbClr val="172033"/>
                </a:solidFill>
                <a:latin typeface="Aptos" pitchFamily="34" charset="0"/>
                <a:ea typeface="Aptos" pitchFamily="34" charset="-122"/>
                <a:cs typeface="Aptos" pitchFamily="34" charset="-120"/>
              </a:rPr>
              <a:t>scale roughly quadratically</a:t>
            </a:r>
            <a:endParaRPr lang="en-US" sz="1700" dirty="0"/>
          </a:p>
        </p:txBody>
      </p:sp>
      <p:sp>
        <p:nvSpPr>
          <p:cNvPr id="14" name="Text 12"/>
          <p:cNvSpPr/>
          <p:nvPr/>
        </p:nvSpPr>
        <p:spPr>
          <a:xfrm>
            <a:off x="8183880" y="3858768"/>
            <a:ext cx="3246120" cy="658368"/>
          </a:xfrm>
          <a:prstGeom prst="rect">
            <a:avLst/>
          </a:prstGeom>
          <a:solidFill>
            <a:srgbClr val="FDECEC"/>
          </a:solidFill>
          <a:ln>
            <a:solidFill>
              <a:srgbClr val="FFFFFF">
                <a:alpha val="0"/>
              </a:srgbClr>
            </a:solidFill>
          </a:ln>
        </p:spPr>
        <p:txBody>
          <a:bodyPr wrap="square" lIns="1524" tIns="1524" rIns="1524" bIns="1524" rtlCol="0" anchor="ctr">
            <a:normAutofit/>
          </a:bodyPr>
          <a:lstStyle/>
          <a:p>
            <a:pPr algn="ctr" indent="0" marL="0">
              <a:buNone/>
            </a:pPr>
            <a:r>
              <a:rPr lang="en-US" sz="1700" b="1" dirty="0">
                <a:solidFill>
                  <a:srgbClr val="D64B4B"/>
                </a:solidFill>
                <a:latin typeface="Aptos" pitchFamily="34" charset="0"/>
                <a:ea typeface="Aptos" pitchFamily="34" charset="-122"/>
                <a:cs typeface="Aptos" pitchFamily="34" charset="-120"/>
              </a:rPr>
              <a:t>Domain-specific language</a:t>
            </a:r>
            <a:endParaRPr lang="en-US" sz="1700" dirty="0"/>
          </a:p>
          <a:p>
            <a:pPr algn="ctr" indent="0" marL="0">
              <a:buNone/>
            </a:pPr>
            <a:r>
              <a:rPr lang="en-US" sz="1700" b="1" dirty="0">
                <a:solidFill>
                  <a:srgbClr val="D64B4B"/>
                </a:solidFill>
                <a:latin typeface="Aptos" pitchFamily="34" charset="0"/>
                <a:ea typeface="Aptos" pitchFamily="34" charset="-122"/>
                <a:cs typeface="Aptos" pitchFamily="34" charset="-120"/>
              </a:rPr>
              <a:t>may break evaluator reliability</a:t>
            </a:r>
            <a:endParaRPr lang="en-US" sz="1700" dirty="0"/>
          </a:p>
        </p:txBody>
      </p:sp>
      <p:sp>
        <p:nvSpPr>
          <p:cNvPr id="15" name="Text 13"/>
          <p:cNvSpPr/>
          <p:nvPr/>
        </p:nvSpPr>
        <p:spPr>
          <a:xfrm>
            <a:off x="960120" y="5440680"/>
            <a:ext cx="10287000" cy="566928"/>
          </a:xfrm>
          <a:prstGeom prst="rect">
            <a:avLst/>
          </a:prstGeom>
          <a:solidFill>
            <a:srgbClr val="0E1726"/>
          </a:solidFill>
          <a:ln>
            <a:solidFill>
              <a:srgbClr val="0E1726"/>
            </a:solidFill>
          </a:ln>
        </p:spPr>
        <p:txBody>
          <a:bodyPr wrap="square" lIns="1524" tIns="1524" rIns="1524" bIns="1524"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Implication</a:t>
            </a:r>
            <a:endParaRPr lang="en-US" sz="2000" dirty="0"/>
          </a:p>
          <a:p>
            <a:pPr algn="ctr" indent="0" marL="0">
              <a:buNone/>
            </a:pPr>
            <a:r>
              <a:rPr lang="en-US" sz="2000" b="1" dirty="0">
                <a:solidFill>
                  <a:srgbClr val="FFFFFF"/>
                </a:solidFill>
                <a:latin typeface="Aptos" pitchFamily="34" charset="0"/>
                <a:ea typeface="Aptos" pitchFamily="34" charset="-122"/>
                <a:cs typeface="Aptos" pitchFamily="34" charset="-120"/>
              </a:rPr>
              <a:t>Semantic uncertainty is theoretically stronger, but real deployment requires efficiency and domain robustness.</a:t>
            </a:r>
            <a:endParaRPr lang="en-US" sz="2000" dirty="0"/>
          </a:p>
        </p:txBody>
      </p:sp>
      <p:sp>
        <p:nvSpPr>
          <p:cNvPr id="16" name="Text 14"/>
          <p:cNvSpPr/>
          <p:nvPr/>
        </p:nvSpPr>
        <p:spPr>
          <a:xfrm>
            <a:off x="566928" y="6473952"/>
            <a:ext cx="8046720" cy="164592"/>
          </a:xfrm>
          <a:prstGeom prst="rect">
            <a:avLst/>
          </a:prstGeom>
          <a:noFill/>
          <a:ln/>
        </p:spPr>
        <p:txBody>
          <a:bodyPr wrap="square" lIns="0" tIns="0" rIns="0" bIns="0" rtlCol="0" anchor="ctr">
            <a:normAutofit/>
          </a:bodyPr>
          <a:lstStyle/>
          <a:p>
            <a:pPr indent="0" marL="0">
              <a:buNone/>
            </a:pPr>
            <a:r>
              <a:rPr lang="en-US" sz="750" dirty="0">
                <a:solidFill>
                  <a:srgbClr val="7A8294"/>
                </a:solidFill>
              </a:rPr>
              <a:t>Evaluation practices and benchmark trends: [5], [8], [9]; semantic method results: [4], [2]</a:t>
            </a:r>
            <a:endParaRPr lang="en-US" sz="750" dirty="0"/>
          </a:p>
        </p:txBody>
      </p:sp>
      <p:sp>
        <p:nvSpPr>
          <p:cNvPr id="17" name="Text 15"/>
          <p:cNvSpPr/>
          <p:nvPr/>
        </p:nvSpPr>
        <p:spPr>
          <a:xfrm>
            <a:off x="9326880" y="6473952"/>
            <a:ext cx="2286000" cy="164592"/>
          </a:xfrm>
          <a:prstGeom prst="rect">
            <a:avLst/>
          </a:prstGeom>
          <a:noFill/>
          <a:ln/>
        </p:spPr>
        <p:txBody>
          <a:bodyPr wrap="square" lIns="0" tIns="0" rIns="0" bIns="0" rtlCol="0" anchor="ctr">
            <a:normAutofit/>
          </a:bodyPr>
          <a:lstStyle/>
          <a:p>
            <a:pPr algn="r" indent="0" marL="0">
              <a:buNone/>
            </a:pPr>
            <a:r>
              <a:rPr lang="en-US" sz="750" dirty="0">
                <a:solidFill>
                  <a:srgbClr val="7A8294"/>
                </a:solidFill>
              </a:rPr>
              <a:t>LLM Uncertainty Metrics Survey</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530352" y="301752"/>
            <a:ext cx="502920" cy="256032"/>
          </a:xfrm>
          <a:prstGeom prst="rect">
            <a:avLst/>
          </a:prstGeom>
          <a:noFill/>
          <a:ln/>
        </p:spPr>
        <p:txBody>
          <a:bodyPr wrap="square" lIns="0" tIns="0" rIns="0" bIns="0" rtlCol="0" anchor="ctr"/>
          <a:lstStyle/>
          <a:p>
            <a:pPr indent="0" marL="0">
              <a:buNone/>
            </a:pPr>
            <a:r>
              <a:rPr lang="en-US" sz="1000" b="1" dirty="0">
                <a:solidFill>
                  <a:srgbClr val="3D63FF"/>
                </a:solidFill>
                <a:latin typeface="Aptos" pitchFamily="34" charset="0"/>
                <a:ea typeface="Aptos" pitchFamily="34" charset="-122"/>
                <a:cs typeface="Aptos" pitchFamily="34" charset="-120"/>
              </a:rPr>
              <a:t>10</a:t>
            </a:r>
            <a:endParaRPr lang="en-US" sz="1000" dirty="0"/>
          </a:p>
        </p:txBody>
      </p:sp>
      <p:sp>
        <p:nvSpPr>
          <p:cNvPr id="3" name="Text 1"/>
          <p:cNvSpPr/>
          <p:nvPr/>
        </p:nvSpPr>
        <p:spPr>
          <a:xfrm>
            <a:off x="1097280" y="228600"/>
            <a:ext cx="8778240" cy="457200"/>
          </a:xfrm>
          <a:prstGeom prst="rect">
            <a:avLst/>
          </a:prstGeom>
          <a:noFill/>
          <a:ln/>
        </p:spPr>
        <p:txBody>
          <a:bodyPr wrap="square" lIns="254" tIns="254" rIns="254" bIns="254" rtlCol="0" anchor="ctr">
            <a:normAutofit/>
          </a:bodyPr>
          <a:lstStyle/>
          <a:p>
            <a:pPr indent="0" marL="0">
              <a:buNone/>
            </a:pPr>
            <a:r>
              <a:rPr lang="en-US" sz="2800" b="1" dirty="0">
                <a:solidFill>
                  <a:srgbClr val="172033"/>
                </a:solidFill>
                <a:latin typeface="Aptos Display" pitchFamily="34" charset="0"/>
                <a:ea typeface="Aptos Display" pitchFamily="34" charset="-122"/>
                <a:cs typeface="Aptos Display" pitchFamily="34" charset="-120"/>
              </a:rPr>
              <a:t>Conclusion and takeaways</a:t>
            </a:r>
            <a:endParaRPr lang="en-US" sz="2800" dirty="0"/>
          </a:p>
        </p:txBody>
      </p:sp>
      <p:sp>
        <p:nvSpPr>
          <p:cNvPr id="4" name="Text 2"/>
          <p:cNvSpPr/>
          <p:nvPr/>
        </p:nvSpPr>
        <p:spPr>
          <a:xfrm>
            <a:off x="1097280" y="694944"/>
            <a:ext cx="8961120" cy="292608"/>
          </a:xfrm>
          <a:prstGeom prst="rect">
            <a:avLst/>
          </a:prstGeom>
          <a:noFill/>
          <a:ln/>
        </p:spPr>
        <p:txBody>
          <a:bodyPr wrap="square" lIns="254" tIns="254" rIns="254" bIns="254" rtlCol="0" anchor="ctr">
            <a:normAutofit/>
          </a:bodyPr>
          <a:lstStyle/>
          <a:p>
            <a:pPr indent="0" marL="0">
              <a:buNone/>
            </a:pPr>
            <a:r>
              <a:rPr lang="en-US" sz="1250" dirty="0">
                <a:solidFill>
                  <a:srgbClr val="5D667A"/>
                </a:solidFill>
                <a:latin typeface="Aptos" pitchFamily="34" charset="0"/>
                <a:ea typeface="Aptos" pitchFamily="34" charset="-122"/>
                <a:cs typeface="Aptos" pitchFamily="34" charset="-120"/>
              </a:rPr>
              <a:t>From token-level uncertainty to semantic-level uncertainty</a:t>
            </a:r>
            <a:endParaRPr lang="en-US" sz="1250" dirty="0"/>
          </a:p>
        </p:txBody>
      </p:sp>
      <p:sp>
        <p:nvSpPr>
          <p:cNvPr id="5" name="Shape 3"/>
          <p:cNvSpPr/>
          <p:nvPr/>
        </p:nvSpPr>
        <p:spPr>
          <a:xfrm>
            <a:off x="530352" y="1060704"/>
            <a:ext cx="11155680" cy="0"/>
          </a:xfrm>
          <a:prstGeom prst="line">
            <a:avLst/>
          </a:prstGeom>
          <a:noFill/>
          <a:ln w="12700">
            <a:solidFill>
              <a:srgbClr val="D7DDEB"/>
            </a:solidFill>
            <a:prstDash val="solid"/>
          </a:ln>
        </p:spPr>
      </p:sp>
      <p:sp>
        <p:nvSpPr>
          <p:cNvPr id="6" name="Text 4"/>
          <p:cNvSpPr/>
          <p:nvPr/>
        </p:nvSpPr>
        <p:spPr>
          <a:xfrm>
            <a:off x="868680" y="1417320"/>
            <a:ext cx="502920" cy="502920"/>
          </a:xfrm>
          <a:prstGeom prst="rect">
            <a:avLst/>
          </a:prstGeom>
          <a:solidFill>
            <a:srgbClr val="3D63FF"/>
          </a:solidFill>
          <a:ln>
            <a:solidFill>
              <a:srgbClr val="3D63FF"/>
            </a:solidFill>
          </a:ln>
        </p:spPr>
        <p:txBody>
          <a:bodyPr wrap="square" lIns="1524" tIns="1524" rIns="1524" bIns="1524"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1</a:t>
            </a:r>
            <a:endParaRPr lang="en-US" sz="2200" dirty="0"/>
          </a:p>
        </p:txBody>
      </p:sp>
      <p:sp>
        <p:nvSpPr>
          <p:cNvPr id="7" name="Text 5"/>
          <p:cNvSpPr/>
          <p:nvPr/>
        </p:nvSpPr>
        <p:spPr>
          <a:xfrm>
            <a:off x="1572768" y="1353312"/>
            <a:ext cx="9601200" cy="658368"/>
          </a:xfrm>
          <a:prstGeom prst="rect">
            <a:avLst/>
          </a:prstGeom>
          <a:solidFill>
            <a:srgbClr val="FFFFFF"/>
          </a:solidFill>
          <a:ln>
            <a:solidFill>
              <a:srgbClr val="D7DDEB"/>
            </a:solidFill>
          </a:ln>
        </p:spPr>
        <p:txBody>
          <a:bodyPr wrap="square" lIns="1524" tIns="1524" rIns="1524" bIns="1524" rtlCol="0" anchor="ctr">
            <a:normAutofit/>
          </a:bodyPr>
          <a:lstStyle/>
          <a:p>
            <a:pPr indent="0" marL="0">
              <a:buNone/>
            </a:pPr>
            <a:r>
              <a:rPr lang="en-US" sz="1800" dirty="0">
                <a:solidFill>
                  <a:srgbClr val="172033"/>
                </a:solidFill>
                <a:latin typeface="Aptos" pitchFamily="34" charset="0"/>
                <a:ea typeface="Aptos" pitchFamily="34" charset="-122"/>
                <a:cs typeface="Aptos" pitchFamily="34" charset="-120"/>
              </a:rPr>
              <a:t>Predictive entropy is a useful probabilistic baseline, but it treats paraphrases as separate outcomes.</a:t>
            </a:r>
            <a:endParaRPr lang="en-US" sz="1800" dirty="0"/>
          </a:p>
        </p:txBody>
      </p:sp>
      <p:sp>
        <p:nvSpPr>
          <p:cNvPr id="8" name="Text 6"/>
          <p:cNvSpPr/>
          <p:nvPr/>
        </p:nvSpPr>
        <p:spPr>
          <a:xfrm>
            <a:off x="868680" y="2331720"/>
            <a:ext cx="502920" cy="502920"/>
          </a:xfrm>
          <a:prstGeom prst="rect">
            <a:avLst/>
          </a:prstGeom>
          <a:solidFill>
            <a:srgbClr val="00A78E"/>
          </a:solidFill>
          <a:ln>
            <a:solidFill>
              <a:srgbClr val="00A78E"/>
            </a:solidFill>
          </a:ln>
        </p:spPr>
        <p:txBody>
          <a:bodyPr wrap="square" lIns="1524" tIns="1524" rIns="1524" bIns="1524"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2</a:t>
            </a:r>
            <a:endParaRPr lang="en-US" sz="2200" dirty="0"/>
          </a:p>
        </p:txBody>
      </p:sp>
      <p:sp>
        <p:nvSpPr>
          <p:cNvPr id="9" name="Text 7"/>
          <p:cNvSpPr/>
          <p:nvPr/>
        </p:nvSpPr>
        <p:spPr>
          <a:xfrm>
            <a:off x="1572768" y="2267712"/>
            <a:ext cx="9601200" cy="658368"/>
          </a:xfrm>
          <a:prstGeom prst="rect">
            <a:avLst/>
          </a:prstGeom>
          <a:solidFill>
            <a:srgbClr val="FFFFFF"/>
          </a:solidFill>
          <a:ln>
            <a:solidFill>
              <a:srgbClr val="D7DDEB"/>
            </a:solidFill>
          </a:ln>
        </p:spPr>
        <p:txBody>
          <a:bodyPr wrap="square" lIns="1524" tIns="1524" rIns="1524" bIns="1524" rtlCol="0" anchor="ctr">
            <a:normAutofit/>
          </a:bodyPr>
          <a:lstStyle/>
          <a:p>
            <a:pPr indent="0" marL="0">
              <a:buNone/>
            </a:pPr>
            <a:r>
              <a:rPr lang="en-US" sz="1800" dirty="0">
                <a:solidFill>
                  <a:srgbClr val="172033"/>
                </a:solidFill>
                <a:latin typeface="Aptos" pitchFamily="34" charset="0"/>
                <a:ea typeface="Aptos" pitchFamily="34" charset="-122"/>
                <a:cs typeface="Aptos" pitchFamily="34" charset="-120"/>
              </a:rPr>
              <a:t>Semantic Entropy better separates lexical variation from epistemic uncertainty by grouping meanings.</a:t>
            </a:r>
            <a:endParaRPr lang="en-US" sz="1800" dirty="0"/>
          </a:p>
        </p:txBody>
      </p:sp>
      <p:sp>
        <p:nvSpPr>
          <p:cNvPr id="10" name="Text 8"/>
          <p:cNvSpPr/>
          <p:nvPr/>
        </p:nvSpPr>
        <p:spPr>
          <a:xfrm>
            <a:off x="868680" y="3246120"/>
            <a:ext cx="502920" cy="502920"/>
          </a:xfrm>
          <a:prstGeom prst="rect">
            <a:avLst/>
          </a:prstGeom>
          <a:solidFill>
            <a:srgbClr val="F6A623"/>
          </a:solidFill>
          <a:ln>
            <a:solidFill>
              <a:srgbClr val="F6A623"/>
            </a:solidFill>
          </a:ln>
        </p:spPr>
        <p:txBody>
          <a:bodyPr wrap="square" lIns="1524" tIns="1524" rIns="1524" bIns="1524"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3</a:t>
            </a:r>
            <a:endParaRPr lang="en-US" sz="2200" dirty="0"/>
          </a:p>
        </p:txBody>
      </p:sp>
      <p:sp>
        <p:nvSpPr>
          <p:cNvPr id="11" name="Text 9"/>
          <p:cNvSpPr/>
          <p:nvPr/>
        </p:nvSpPr>
        <p:spPr>
          <a:xfrm>
            <a:off x="1572768" y="3182112"/>
            <a:ext cx="9601200" cy="658368"/>
          </a:xfrm>
          <a:prstGeom prst="rect">
            <a:avLst/>
          </a:prstGeom>
          <a:solidFill>
            <a:srgbClr val="FFFFFF"/>
          </a:solidFill>
          <a:ln>
            <a:solidFill>
              <a:srgbClr val="D7DDEB"/>
            </a:solidFill>
          </a:ln>
        </p:spPr>
        <p:txBody>
          <a:bodyPr wrap="square" lIns="1524" tIns="1524" rIns="1524" bIns="1524" rtlCol="0" anchor="ctr">
            <a:normAutofit/>
          </a:bodyPr>
          <a:lstStyle/>
          <a:p>
            <a:pPr indent="0" marL="0">
              <a:buNone/>
            </a:pPr>
            <a:r>
              <a:rPr lang="en-US" sz="1800" dirty="0">
                <a:solidFill>
                  <a:srgbClr val="172033"/>
                </a:solidFill>
                <a:latin typeface="Aptos" pitchFamily="34" charset="0"/>
                <a:ea typeface="Aptos" pitchFamily="34" charset="-122"/>
                <a:cs typeface="Aptos" pitchFamily="34" charset="-120"/>
              </a:rPr>
              <a:t>DSE extends semantic uncertainty to black-box APIs; KLE extends it to continuous semantic spaces.</a:t>
            </a:r>
            <a:endParaRPr lang="en-US" sz="1800" dirty="0"/>
          </a:p>
        </p:txBody>
      </p:sp>
      <p:sp>
        <p:nvSpPr>
          <p:cNvPr id="12" name="Text 10"/>
          <p:cNvSpPr/>
          <p:nvPr/>
        </p:nvSpPr>
        <p:spPr>
          <a:xfrm>
            <a:off x="868680" y="4160520"/>
            <a:ext cx="502920" cy="502920"/>
          </a:xfrm>
          <a:prstGeom prst="rect">
            <a:avLst/>
          </a:prstGeom>
          <a:solidFill>
            <a:srgbClr val="D64B4B"/>
          </a:solidFill>
          <a:ln>
            <a:solidFill>
              <a:srgbClr val="D64B4B"/>
            </a:solidFill>
          </a:ln>
        </p:spPr>
        <p:txBody>
          <a:bodyPr wrap="square" lIns="1524" tIns="1524" rIns="1524" bIns="1524"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4</a:t>
            </a:r>
            <a:endParaRPr lang="en-US" sz="2200" dirty="0"/>
          </a:p>
        </p:txBody>
      </p:sp>
      <p:sp>
        <p:nvSpPr>
          <p:cNvPr id="13" name="Text 11"/>
          <p:cNvSpPr/>
          <p:nvPr/>
        </p:nvSpPr>
        <p:spPr>
          <a:xfrm>
            <a:off x="1572768" y="4096512"/>
            <a:ext cx="9601200" cy="658368"/>
          </a:xfrm>
          <a:prstGeom prst="rect">
            <a:avLst/>
          </a:prstGeom>
          <a:solidFill>
            <a:srgbClr val="FFFFFF"/>
          </a:solidFill>
          <a:ln>
            <a:solidFill>
              <a:srgbClr val="D7DDEB"/>
            </a:solidFill>
          </a:ln>
        </p:spPr>
        <p:txBody>
          <a:bodyPr wrap="square" lIns="1524" tIns="1524" rIns="1524" bIns="1524" rtlCol="0" anchor="ctr">
            <a:normAutofit/>
          </a:bodyPr>
          <a:lstStyle/>
          <a:p>
            <a:pPr indent="0" marL="0">
              <a:buNone/>
            </a:pPr>
            <a:r>
              <a:rPr lang="en-US" sz="1800" dirty="0">
                <a:solidFill>
                  <a:srgbClr val="172033"/>
                </a:solidFill>
                <a:latin typeface="Aptos" pitchFamily="34" charset="0"/>
                <a:ea typeface="Aptos" pitchFamily="34" charset="-122"/>
                <a:cs typeface="Aptos" pitchFamily="34" charset="-120"/>
              </a:rPr>
              <a:t>Future work: efficient sampling, domain-robust semantic evaluation, long-form and multimodal uncertainty.</a:t>
            </a:r>
            <a:endParaRPr lang="en-US" sz="1800" dirty="0"/>
          </a:p>
        </p:txBody>
      </p:sp>
      <p:sp>
        <p:nvSpPr>
          <p:cNvPr id="14" name="Text 12"/>
          <p:cNvSpPr/>
          <p:nvPr/>
        </p:nvSpPr>
        <p:spPr>
          <a:xfrm>
            <a:off x="914400" y="5806440"/>
            <a:ext cx="10424160" cy="292608"/>
          </a:xfrm>
          <a:prstGeom prst="rect">
            <a:avLst/>
          </a:prstGeom>
          <a:noFill/>
          <a:ln/>
        </p:spPr>
        <p:txBody>
          <a:bodyPr wrap="square" lIns="0" tIns="0" rIns="0" bIns="0" rtlCol="0" anchor="ctr">
            <a:normAutofit/>
          </a:bodyPr>
          <a:lstStyle/>
          <a:p>
            <a:pPr algn="ctr" indent="0" marL="0">
              <a:buNone/>
            </a:pPr>
            <a:r>
              <a:rPr lang="en-US" sz="1120" dirty="0">
                <a:solidFill>
                  <a:srgbClr val="5D667A"/>
                </a:solidFill>
                <a:latin typeface="Aptos" pitchFamily="34" charset="0"/>
                <a:ea typeface="Aptos" pitchFamily="34" charset="-122"/>
                <a:cs typeface="Aptos" pitchFamily="34" charset="-120"/>
              </a:rPr>
              <a:t>Key references: [2] Farquhar et al. 2024; [4] Kuhn et al. 2023; [5] Malinin &amp; Gales 2021; [7] Nikitin et al. 2024; [9] Xia et al. 2025.</a:t>
            </a:r>
            <a:endParaRPr lang="en-US" sz="1120" dirty="0"/>
          </a:p>
        </p:txBody>
      </p:sp>
      <p:sp>
        <p:nvSpPr>
          <p:cNvPr id="15" name="Text 13"/>
          <p:cNvSpPr/>
          <p:nvPr/>
        </p:nvSpPr>
        <p:spPr>
          <a:xfrm>
            <a:off x="566928" y="6473952"/>
            <a:ext cx="8046720" cy="164592"/>
          </a:xfrm>
          <a:prstGeom prst="rect">
            <a:avLst/>
          </a:prstGeom>
          <a:noFill/>
          <a:ln/>
        </p:spPr>
        <p:txBody>
          <a:bodyPr wrap="square" lIns="0" tIns="0" rIns="0" bIns="0" rtlCol="0" anchor="ctr">
            <a:normAutofit/>
          </a:bodyPr>
          <a:lstStyle/>
          <a:p>
            <a:pPr indent="0" marL="0">
              <a:buNone/>
            </a:pPr>
            <a:r>
              <a:rPr lang="en-US" sz="750" dirty="0">
                <a:solidFill>
                  <a:srgbClr val="7A8294"/>
                </a:solidFill>
              </a:rPr>
              <a:t>Conclusion synthesized from the survey report references [2], [4], [5], [7], [8], [9]</a:t>
            </a:r>
            <a:endParaRPr lang="en-US" sz="750" dirty="0"/>
          </a:p>
        </p:txBody>
      </p:sp>
      <p:sp>
        <p:nvSpPr>
          <p:cNvPr id="16" name="Text 14"/>
          <p:cNvSpPr/>
          <p:nvPr/>
        </p:nvSpPr>
        <p:spPr>
          <a:xfrm>
            <a:off x="9326880" y="6473952"/>
            <a:ext cx="2286000" cy="164592"/>
          </a:xfrm>
          <a:prstGeom prst="rect">
            <a:avLst/>
          </a:prstGeom>
          <a:noFill/>
          <a:ln/>
        </p:spPr>
        <p:txBody>
          <a:bodyPr wrap="square" lIns="0" tIns="0" rIns="0" bIns="0" rtlCol="0" anchor="ctr">
            <a:normAutofit/>
          </a:bodyPr>
          <a:lstStyle/>
          <a:p>
            <a:pPr algn="r" indent="0" marL="0">
              <a:buNone/>
            </a:pPr>
            <a:r>
              <a:rPr lang="en-US" sz="750" dirty="0">
                <a:solidFill>
                  <a:srgbClr val="7A8294"/>
                </a:solidFill>
              </a:rPr>
              <a:t>LLM Uncertainty Metrics Survey</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Predictive Entropy to Semantic Entropy</dc:title>
  <dc:subject>Survey presentation on uncertainty metrics for LLMs</dc:subject>
  <dc:creator>OpenAI</dc:creator>
  <cp:lastModifiedBy>OpenAI</cp:lastModifiedBy>
  <cp:revision>1</cp:revision>
  <dcterms:created xsi:type="dcterms:W3CDTF">2026-06-11T13:59:53Z</dcterms:created>
  <dcterms:modified xsi:type="dcterms:W3CDTF">2026-06-11T13:59:53Z</dcterms:modified>
</cp:coreProperties>
</file>